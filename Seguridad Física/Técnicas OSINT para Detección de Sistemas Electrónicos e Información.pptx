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60" r:id="rId3"/>
    <p:sldId id="258" r:id="rId4"/>
    <p:sldId id="259" r:id="rId5"/>
    <p:sldId id="261" r:id="rId6"/>
    <p:sldId id="264" r:id="rId7"/>
    <p:sldId id="266" r:id="rId8"/>
    <p:sldId id="263" r:id="rId9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061" autoAdjust="0"/>
  </p:normalViewPr>
  <p:slideViewPr>
    <p:cSldViewPr snapToGrid="0">
      <p:cViewPr varScale="1">
        <p:scale>
          <a:sx n="70" d="100"/>
          <a:sy n="70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D03C10-CFD1-44D2-AC36-560BCF74D975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D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1B0113-1FD1-4E20-A421-84808E5AB56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26126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1497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725504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633222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779678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178401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42960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98617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588045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955903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024004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586010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972227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977149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lchecho3000-blip/Ciberseguridad-bootcamp/tree/main/Seguridad%20F%C3%ADsic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93518" y="2212737"/>
            <a:ext cx="12004964" cy="4645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Participante: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Luis Ramon Reyes </a:t>
            </a:r>
            <a:r>
              <a:rPr lang="es-DO" dirty="0" err="1">
                <a:latin typeface="Verdana"/>
                <a:ea typeface="Verdana"/>
                <a:cs typeface="Verdana"/>
                <a:sym typeface="Verdana"/>
              </a:rPr>
              <a:t>Volquez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Facilitador: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Kevin Feliz Henríquez </a:t>
            </a:r>
          </a:p>
          <a:p>
            <a:pPr marL="0" indent="0" algn="l"/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Técnico: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Ciberseguridad</a:t>
            </a:r>
          </a:p>
          <a:p>
            <a:pPr marL="0" indent="0" algn="l"/>
            <a:r>
              <a:rPr lang="es-ES" b="1" dirty="0">
                <a:latin typeface="Verdana"/>
                <a:ea typeface="Verdana"/>
                <a:cs typeface="Verdana"/>
                <a:sym typeface="Verdana"/>
              </a:rPr>
              <a:t>Módulo: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Seguridad Física</a:t>
            </a:r>
          </a:p>
          <a:p>
            <a:pPr algn="l"/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Actividad: </a:t>
            </a:r>
            <a:r>
              <a:rPr lang="es-MX" dirty="0"/>
              <a:t> </a:t>
            </a:r>
            <a:r>
              <a:rPr lang="es-ES" b="0" i="0" dirty="0">
                <a:solidFill>
                  <a:srgbClr val="1D2125"/>
                </a:solidFill>
                <a:effectLst/>
                <a:latin typeface="-apple-system"/>
              </a:rPr>
              <a:t>  </a:t>
            </a:r>
            <a:r>
              <a:rPr lang="es-ES" b="0" i="0" dirty="0">
                <a:solidFill>
                  <a:srgbClr val="1D212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Técnicas OSINT para Detección de Sistemas Electrónicos e Información</a:t>
            </a:r>
          </a:p>
          <a:p>
            <a:pPr algn="l">
              <a:buClr>
                <a:schemeClr val="dk1"/>
              </a:buClr>
              <a:buSzPts val="2400"/>
            </a:pPr>
            <a:r>
              <a:rPr lang="es-DO" b="1" dirty="0">
                <a:latin typeface="Verdana" panose="020B0604030504040204" pitchFamily="34" charset="0"/>
                <a:ea typeface="Verdana" panose="020B0604030504040204" pitchFamily="34" charset="0"/>
                <a:cs typeface="Verdana"/>
                <a:sym typeface="Verdana"/>
              </a:rPr>
              <a:t>Descripción: </a:t>
            </a:r>
            <a:r>
              <a:rPr lang="es-DO" dirty="0">
                <a:latin typeface="Verdana" panose="020B0604030504040204" pitchFamily="34" charset="0"/>
                <a:ea typeface="Verdana" panose="020B0604030504040204" pitchFamily="34" charset="0"/>
                <a:cs typeface="Verdana"/>
                <a:sym typeface="Verdana"/>
              </a:rPr>
              <a:t>Haremos una investigación sobre un posible delito a una empresa con poca seguridad</a:t>
            </a:r>
            <a:r>
              <a:rPr lang="es-MX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lvl="0" algn="l">
              <a:buClr>
                <a:schemeClr val="dk1"/>
              </a:buClr>
              <a:buSzPts val="2400"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Link de GitHub: </a:t>
            </a:r>
            <a:r>
              <a:rPr lang="es-DO" b="1" dirty="0">
                <a:latin typeface="Verdana"/>
                <a:ea typeface="Verdana"/>
                <a:cs typeface="Verdana"/>
                <a:sym typeface="Verdana"/>
                <a:hlinkClick r:id="rId3"/>
              </a:rPr>
              <a:t>https://github.com/elchecho3000-blip/Ciberseguridad-bootcamp/tree/main/Seguridad%20F%C3%ADsica</a:t>
            </a:r>
            <a:endParaRPr lang="es-DO" dirty="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8490" y="324976"/>
            <a:ext cx="2342695" cy="17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4965" y="1077057"/>
            <a:ext cx="3631925" cy="697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49934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EF34CD-BF5E-7220-B6B5-2C1775FC4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9758" y="1482203"/>
            <a:ext cx="9352484" cy="38935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Para analizar este escenario, nos situaremos en una </a:t>
            </a:r>
            <a:r>
              <a:rPr lang="es-ES" b="1" dirty="0"/>
              <a:t>sala de servidores (Data Center)</a:t>
            </a:r>
            <a:r>
              <a:rPr lang="es-ES" dirty="0"/>
              <a:t> de una empresa mediana. Este entorno es el corazón tecnológico de la organización, por lo que un fallo físico (fuego, intrusiones, fallos eléctricos) podría paralizar por completo las operaciones.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A continuación, se presenta un análisis de los principales riesgos físicos en este escenario y los controles recomendados para minimizarlos, clasificados por categorías.</a:t>
            </a:r>
          </a:p>
          <a:p>
            <a:pPr marL="0" indent="0" algn="ctr">
              <a:buNone/>
            </a:pPr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2407429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BC0E27-7DF1-A6B5-EE4B-8FA20F3E7A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2831" y="592695"/>
            <a:ext cx="11737074" cy="6265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es-ES" b="1" dirty="0"/>
              <a:t>1. Control de Acceso y Gestión de Identidad (Evita el uso de tarjetas compartidas y robadas)</a:t>
            </a:r>
          </a:p>
          <a:p>
            <a:endParaRPr lang="es-E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Autenticación </a:t>
            </a:r>
            <a:r>
              <a:rPr lang="es-ES" b="1" dirty="0" err="1"/>
              <a:t>Multifactor</a:t>
            </a:r>
            <a:r>
              <a:rPr lang="es-ES" b="1" dirty="0"/>
              <a:t> Física (Biometría):</a:t>
            </a:r>
            <a:r>
              <a:rPr lang="es-ES" dirty="0"/>
              <a:t> Las tarjetas magnéticas son transferibles y propensas al robo. Se debió implementar un acceso que combinara la tarjeta con un factor biométrico (huella dactilar o reconocimiento facial) para ingresar a las áreas críticas.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Principio de Menor Privilegio:</a:t>
            </a:r>
            <a:r>
              <a:rPr lang="es-ES" dirty="0"/>
              <a:t> Un empleado temporal de mantenimiento técnico jamás debió tener permisos de acceso a la sala principal de servidores ni a las credenciales de otros trabajadores. Sus accesos debieron limitarse estrictamente a las zonas donde requería trabajar.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Política de Cero Tolerancia al Compartir Credenciales:</a:t>
            </a:r>
            <a:r>
              <a:rPr lang="es-ES" dirty="0"/>
              <a:t> Implementar auditorías sorpresa y sanciones severas para erradicar el uso negligente de compartir tarjetas de acceso.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DO" altLang="es-D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993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6F23CC-8182-3BAC-13A0-88D355CDC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713" y="627798"/>
            <a:ext cx="11136573" cy="600501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b="1" dirty="0"/>
              <a:t>2. Seguridad en la Infraestructura y Diseño Físico (Evita la sustracción de equipos)</a:t>
            </a:r>
          </a:p>
          <a:p>
            <a:endParaRPr lang="es-E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Racks y Gabinetes bajo Llave:</a:t>
            </a:r>
            <a:r>
              <a:rPr lang="es-ES" dirty="0"/>
              <a:t> Aunque los atacantes lograron entrar a la sala, los servidores individuales debieron estar atornillados y resguardados dentro de racks de seguridad cerrados con llave física o cerradura electrónica independiente. Esto habría retrasado o impedido que se llevaran los servidores portátiles.</a:t>
            </a:r>
          </a:p>
          <a:p>
            <a:pPr marL="0" indent="0">
              <a:buNone/>
            </a:pP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Esclusas de Seguridad (</a:t>
            </a:r>
            <a:r>
              <a:rPr lang="es-ES" b="1" dirty="0" err="1"/>
              <a:t>Mantrap</a:t>
            </a:r>
            <a:r>
              <a:rPr lang="es-ES" b="1" dirty="0"/>
              <a:t>):</a:t>
            </a:r>
            <a:r>
              <a:rPr lang="es-ES" dirty="0"/>
              <a:t> Implementar un sistema de doble puerta en la entrada del centro de datos. La segunda puerta no se abre hasta que la primera se haya cerrado y el personal de seguridad haya verificado la identidad del individuo desde una cabina blindada.</a:t>
            </a:r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2153081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0FA081-B349-AE24-5518-950E0A185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490" y="368491"/>
            <a:ext cx="11518710" cy="60869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b="1" dirty="0"/>
              <a:t>3. Monitoreo y Gestión de Incidentes (Evita el sabotaje de las cámaras)</a:t>
            </a:r>
          </a:p>
          <a:p>
            <a:pPr marL="0" indent="0" algn="ctr">
              <a:buNone/>
            </a:pPr>
            <a:endParaRPr lang="es-E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Segregación de Funciones en Mantenimiento:</a:t>
            </a:r>
            <a:r>
              <a:rPr lang="es-ES" dirty="0"/>
              <a:t> Un técnico de mantenimiento no debe tener la facultad ni el acceso lógico para apagar el sistema de CCTV. Las funciones de soporte técnico y la administración de la seguridad física deben estar completamente separadas.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Protocolo de Ventanas de Mantenimiento:</a:t>
            </a:r>
            <a:r>
              <a:rPr lang="es-ES" dirty="0"/>
              <a:t> Cualquier desactivación de cámaras por "mantenimiento preventivo" debió requerir una solicitud formal previa, aprobación digital de la alta gerencia y supervisión física de un guardia durante todo el proceso.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Alertas por Pérdida de Señal:</a:t>
            </a:r>
            <a:r>
              <a:rPr lang="es-ES" dirty="0"/>
              <a:t> El sistema de CCTV debió emitir una alarma crítica en tiempo real a una central de monitoreo externa (o redundante) en el instante en que las cámaras se desconectaron, levantando sospechas inmediatas en un fin de semana.</a:t>
            </a:r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1440642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ADA350-1B39-F1EE-344B-3F6DA23A0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5328"/>
            <a:ext cx="10515600" cy="552734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b="1" dirty="0"/>
              <a:t>4. Protección de los Datos (Mitiga el daño en caso de robo físico)</a:t>
            </a:r>
          </a:p>
          <a:p>
            <a:pPr marL="0" indent="0" algn="ctr">
              <a:buNone/>
            </a:pPr>
            <a:endParaRPr lang="es-E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Cifrado de Datos en Reposo (Data at </a:t>
            </a:r>
            <a:r>
              <a:rPr lang="es-ES" b="1" dirty="0" err="1"/>
              <a:t>Rest</a:t>
            </a:r>
            <a:r>
              <a:rPr lang="es-ES" b="1" dirty="0"/>
              <a:t> </a:t>
            </a:r>
            <a:r>
              <a:rPr lang="es-ES" b="1" dirty="0" err="1"/>
              <a:t>Encryption</a:t>
            </a:r>
            <a:r>
              <a:rPr lang="es-ES" b="1" dirty="0"/>
              <a:t>):</a:t>
            </a:r>
            <a:r>
              <a:rPr lang="es-ES" dirty="0"/>
              <a:t> Esta fue la falla más grave que causó el daño irreversible. Si la información en los discos duros de los servidores hubiera estado cifrada utilizando algoritmos robustos (como AES-256), los servidores robados habrían sido completamente inútiles para los atacantes, evitando que la información se vendiera en el mercado negro.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Copias de Seguridad Fuera del Sitio (</a:t>
            </a:r>
            <a:r>
              <a:rPr lang="es-ES" b="1" dirty="0" err="1"/>
              <a:t>Offsite</a:t>
            </a:r>
            <a:r>
              <a:rPr lang="es-ES" b="1" dirty="0"/>
              <a:t> </a:t>
            </a:r>
            <a:r>
              <a:rPr lang="es-ES" b="1" dirty="0" err="1"/>
              <a:t>Backups</a:t>
            </a:r>
            <a:r>
              <a:rPr lang="es-ES" b="1" dirty="0"/>
              <a:t>):</a:t>
            </a:r>
            <a:r>
              <a:rPr lang="es-ES" dirty="0"/>
              <a:t> Para evitar la pérdida de contratos por la destrucción o robo de la infraestructura, la empresa debió contar con respaldos automatizados en la nube o en un segundo centro de datos geográficamente distante.</a:t>
            </a:r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3998294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ADA350-1B39-F1EE-344B-3F6DA23A0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0988"/>
            <a:ext cx="10515600" cy="552734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b="1" dirty="0"/>
              <a:t>5. Controles Administrativos y de Recursos Humanos (Evita la infiltración)</a:t>
            </a:r>
          </a:p>
          <a:p>
            <a:pPr marL="0" indent="0" algn="ctr">
              <a:buNone/>
            </a:pPr>
            <a:endParaRPr lang="es-E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Investigación de Antecedentes (</a:t>
            </a:r>
            <a:r>
              <a:rPr lang="es-ES" b="1" dirty="0" err="1"/>
              <a:t>Background</a:t>
            </a:r>
            <a:r>
              <a:rPr lang="es-ES" b="1" dirty="0"/>
              <a:t> </a:t>
            </a:r>
            <a:r>
              <a:rPr lang="es-ES" b="1" dirty="0" err="1"/>
              <a:t>Checks</a:t>
            </a:r>
            <a:r>
              <a:rPr lang="es-ES" b="1" dirty="0"/>
              <a:t>):</a:t>
            </a:r>
            <a:r>
              <a:rPr lang="es-ES" dirty="0"/>
              <a:t> Proceso riguroso de depuración y validación de antecedentes penales y laborales para todo el personal, incluyendo contratistas y empleados temporales, antes de otorgarles acceso a las instalaciones.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Supervisión y Acompañamiento:</a:t>
            </a:r>
            <a:r>
              <a:rPr lang="es-ES" dirty="0"/>
              <a:t> El personal temporal o externo debió estar bajo supervisión constante o acompañado por un empleado de planta con confianza comprobada al transitar por áreas de información crítica.</a:t>
            </a:r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2923537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2F1B1B-F593-5674-7A54-FDE64D91A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724" y="1091252"/>
            <a:ext cx="9206552" cy="562451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MX" b="1" dirty="0"/>
              <a:t>Lo aprendido:</a:t>
            </a:r>
          </a:p>
          <a:p>
            <a:pPr marL="0" indent="0" algn="ctr">
              <a:buNone/>
            </a:pPr>
            <a:endParaRPr lang="es-MX" b="1" dirty="0"/>
          </a:p>
          <a:p>
            <a:pPr marL="0" indent="0">
              <a:buNone/>
            </a:pPr>
            <a:r>
              <a:rPr lang="es-ES" dirty="0"/>
              <a:t>El desastre de </a:t>
            </a:r>
            <a:r>
              <a:rPr lang="es-ES" dirty="0" err="1"/>
              <a:t>DataSecureCorp</a:t>
            </a:r>
            <a:r>
              <a:rPr lang="es-ES" dirty="0"/>
              <a:t> se pudo haber evitado con cuatro medidas clave: </a:t>
            </a:r>
            <a:r>
              <a:rPr lang="es-ES" b="1" dirty="0"/>
              <a:t>investigación de antecedentes</a:t>
            </a:r>
            <a:r>
              <a:rPr lang="es-ES" dirty="0"/>
              <a:t> y acompañamiento para el personal temporal; </a:t>
            </a:r>
            <a:r>
              <a:rPr lang="es-ES" b="1" dirty="0"/>
              <a:t>acceso biométrico</a:t>
            </a:r>
            <a:r>
              <a:rPr lang="es-ES" dirty="0"/>
              <a:t> en lugar de tarjetas magnéticas para evitar que se compartieran; </a:t>
            </a:r>
            <a:r>
              <a:rPr lang="es-ES" b="1" dirty="0"/>
              <a:t>segregación de funciones</a:t>
            </a:r>
            <a:r>
              <a:rPr lang="es-ES" dirty="0"/>
              <a:t> para que un técnico no pudiera apagar el CCTV sin activar alertas automáticas; y </a:t>
            </a:r>
            <a:r>
              <a:rPr lang="es-ES" b="1" dirty="0"/>
              <a:t>cifrado de datos</a:t>
            </a:r>
            <a:r>
              <a:rPr lang="es-ES" dirty="0"/>
              <a:t> junto con racks bajo llave, lo que habría impedido el acceso a la información y el robo de los servidores aunque los atacantes hubieran logrado entrar.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33644916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832</Words>
  <Application>Microsoft Office PowerPoint</Application>
  <PresentationFormat>Panorámica</PresentationFormat>
  <Paragraphs>36</Paragraphs>
  <Slides>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-apple-system</vt:lpstr>
      <vt:lpstr>Arial</vt:lpstr>
      <vt:lpstr>Calibri</vt:lpstr>
      <vt:lpstr>Calibri Light</vt:lpstr>
      <vt:lpstr>Verdana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Reyes</dc:creator>
  <cp:lastModifiedBy>Luis Reyes Volquez</cp:lastModifiedBy>
  <cp:revision>29</cp:revision>
  <dcterms:created xsi:type="dcterms:W3CDTF">2026-04-23T16:05:39Z</dcterms:created>
  <dcterms:modified xsi:type="dcterms:W3CDTF">2026-06-30T18:07:01Z</dcterms:modified>
</cp:coreProperties>
</file>