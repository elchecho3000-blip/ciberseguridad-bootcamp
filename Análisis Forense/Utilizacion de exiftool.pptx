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63" r:id="rId22"/>
    <p:sldId id="265" r:id="rId23"/>
    <p:sldId id="264" r:id="rId24"/>
    <p:sldId id="268" r:id="rId25"/>
    <p:sldId id="266" r:id="rId26"/>
    <p:sldId id="26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2" d="100"/>
          <a:sy n="42" d="100"/>
        </p:scale>
        <p:origin x="72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CEE4DF5F-86F9-5F14-B807-DF75A14983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A8BD3249-F690-4BBA-61A5-A060E56A71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CFAA77BD-83CF-8798-CDE4-AAFE4E871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D45700C0-E7D4-9ADE-756E-0BB7DF112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812B4956-CF58-84F6-A362-36D87425A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66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A51C22A-46EF-B7F7-DA9F-FFC646680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A53B9B53-B116-B5AB-097A-CF499D9EA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641F34A0-DA1E-0C5F-35CD-3444CC230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94648977-B820-4807-0731-261B902FD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E9F4C08C-3EE1-33F2-79A6-030266950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485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80ABF7DA-EBE4-1053-73F8-FAE756D99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="" xmlns:a16="http://schemas.microsoft.com/office/drawing/2014/main" id="{210D9FAC-30AA-41EB-2FAD-2D14E01A8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49F25522-CB91-2B90-6748-3B6D43E65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0E6D1450-5D93-FED1-D489-2C0DBD0AA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CF5D2F38-1C10-6B9C-0ED8-23543970A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83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47B5B587-AE33-60B5-00D5-3C3F67212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E6C43273-DA38-1E89-2C28-5FF939D2B3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="" xmlns:a16="http://schemas.microsoft.com/office/drawing/2014/main" id="{74D698C4-5829-7233-7B4E-C251FE099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7E977B2E-C4CD-4D2B-2878-92CF7FB71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62B19627-C344-00EA-0E00-A5E7276C9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9BC9E700-6417-4C44-2F11-733E7D7EF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937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8D41B00E-2E34-C83D-5443-54B0A2599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="" xmlns:a16="http://schemas.microsoft.com/office/drawing/2014/main" id="{F9B325F6-08C6-55A3-5389-3741580B4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="" xmlns:a16="http://schemas.microsoft.com/office/drawing/2014/main" id="{471E0E68-A162-4BE8-65D3-62BD56B66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="" xmlns:a16="http://schemas.microsoft.com/office/drawing/2014/main" id="{8AFD13B6-4339-CCD9-CAC8-6D1012ACDD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="" xmlns:a16="http://schemas.microsoft.com/office/drawing/2014/main" id="{1E7BAA4A-179E-6050-222C-D06160EE19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="" xmlns:a16="http://schemas.microsoft.com/office/drawing/2014/main" id="{F09477E7-A7CC-2F29-BACF-57BBB4AA6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="" xmlns:a16="http://schemas.microsoft.com/office/drawing/2014/main" id="{29651D8F-A5B1-B34B-6F87-FEF29B031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="" xmlns:a16="http://schemas.microsoft.com/office/drawing/2014/main" id="{C25A7A89-8E33-9953-8269-80B6D440B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2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82E9802B-E5D9-D1CC-2C16-1D4B3D423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="" xmlns:a16="http://schemas.microsoft.com/office/drawing/2014/main" id="{8E8276DE-E2D8-FDD8-811C-F60DBF969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="" xmlns:a16="http://schemas.microsoft.com/office/drawing/2014/main" id="{5EA15A6A-5967-555E-2E8F-AD5BE8A6C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="" xmlns:a16="http://schemas.microsoft.com/office/drawing/2014/main" id="{D3F0BE36-C324-0896-CCE0-B53F49733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111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="" xmlns:a16="http://schemas.microsoft.com/office/drawing/2014/main" id="{8B3F4718-C4BE-2AB0-37D5-E5099C957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="" xmlns:a16="http://schemas.microsoft.com/office/drawing/2014/main" id="{BE3350FE-D811-B801-D003-50C4B1CEB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="" xmlns:a16="http://schemas.microsoft.com/office/drawing/2014/main" id="{131DC38B-1F68-631D-CF5C-7CDBA7608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071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5CCDD9A-10F9-BA6A-3307-A4D2184E3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63B55335-7D17-0DC1-F3D9-59D75E047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="" xmlns:a16="http://schemas.microsoft.com/office/drawing/2014/main" id="{578DBA60-6F4A-CDEF-E714-412937022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FE2BD7D4-6BD4-E5B6-0D60-552ED0BBE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564091E5-C77D-6678-C590-FCE7BC7F5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4620BBE9-8C5F-4D41-50E6-D71393C9F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902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EB0DA692-C551-3ACF-5625-CEFE488EC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="" xmlns:a16="http://schemas.microsoft.com/office/drawing/2014/main" id="{C1865D7E-1171-E6F9-4A78-BC1B7FCB14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="" xmlns:a16="http://schemas.microsoft.com/office/drawing/2014/main" id="{B247CF7C-4A8C-33F6-ADF3-7805D40A0C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DBB96CCD-FB64-1AC1-E3A4-C53440D9D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515C5ABB-C0F4-D3B3-DE51-FB8CEBAA5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21B5C441-8A15-1221-64BB-3E6BA2D74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025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BBDA917F-8A42-ED75-0D14-1DE743753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="" xmlns:a16="http://schemas.microsoft.com/office/drawing/2014/main" id="{6B5D46D3-60FA-71EB-87D8-B6AF14D43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DBE5F3A7-93B9-5B33-B99C-2E1D5FB3C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09E310C9-C1DE-F06E-70C3-33CA1DD41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98062832-5E06-DC39-235B-C353E3092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85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="" xmlns:a16="http://schemas.microsoft.com/office/drawing/2014/main" id="{CCDE9587-3760-07E5-5F2E-F01E8C253E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="" xmlns:a16="http://schemas.microsoft.com/office/drawing/2014/main" id="{F83BC921-584E-4656-DBE2-E845A18EF3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E865357F-8FC1-262E-7EFC-16C1193B5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9E1921B1-FA5C-BF47-1FDC-606911035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C6094725-EE54-29AA-C8A2-36D8AE682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922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="" xmlns:a16="http://schemas.microsoft.com/office/drawing/2014/main" id="{4C2981F2-5468-4048-53AA-5D3CB2BB6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="" xmlns:a16="http://schemas.microsoft.com/office/drawing/2014/main" id="{729534CB-B1FA-9393-6593-CCC109E74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4DAAECA9-F9C9-FB14-5653-2EBF9EF543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A09876-62AC-4B3E-B995-35F1DBFE7EB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A30EDEEE-B69A-54EA-8A4B-636639A9F7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A05DDD59-44B7-8943-454F-1B61B51E13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718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elchecho3000-blip/Ciberseguridad-bootcamp/tree/main/An%C3%A1lisis%20Forens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>
            <a:extLst>
              <a:ext uri="{FF2B5EF4-FFF2-40B4-BE49-F238E27FC236}">
                <a16:creationId xmlns="" xmlns:a16="http://schemas.microsoft.com/office/drawing/2014/main" id="{C92AB771-0ADD-99B2-D56D-9D6632AA9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236" y="2685039"/>
            <a:ext cx="11707091" cy="40764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DO" b="1" dirty="0"/>
              <a:t>Participante: </a:t>
            </a:r>
            <a:r>
              <a:rPr lang="es-DO" dirty="0"/>
              <a:t>Luis Ramón Reyes </a:t>
            </a:r>
            <a:r>
              <a:rPr lang="es-DO" dirty="0" err="1"/>
              <a:t>Volquez</a:t>
            </a:r>
            <a:r>
              <a:rPr lang="es-DO" dirty="0"/>
              <a:t>	</a:t>
            </a:r>
          </a:p>
          <a:p>
            <a:pPr marL="0" indent="0">
              <a:buNone/>
            </a:pPr>
            <a:r>
              <a:rPr lang="es-DO" b="1" dirty="0"/>
              <a:t>Técnico: </a:t>
            </a:r>
            <a:r>
              <a:rPr lang="es-DO" dirty="0"/>
              <a:t>Ciberseguridad</a:t>
            </a:r>
          </a:p>
          <a:p>
            <a:pPr marL="0" indent="0">
              <a:buNone/>
            </a:pPr>
            <a:r>
              <a:rPr lang="es-DO" b="1" dirty="0"/>
              <a:t>Módulo: </a:t>
            </a:r>
            <a:r>
              <a:rPr lang="es-DO" dirty="0" smtClean="0"/>
              <a:t>Análisis Forense</a:t>
            </a:r>
            <a:endParaRPr lang="es-DO" dirty="0"/>
          </a:p>
          <a:p>
            <a:pPr marL="0" indent="0">
              <a:buNone/>
            </a:pPr>
            <a:r>
              <a:rPr lang="es-DO" b="1" dirty="0"/>
              <a:t>Facilitador: </a:t>
            </a:r>
            <a:r>
              <a:rPr lang="es-DO" dirty="0"/>
              <a:t>Kevin Feliz </a:t>
            </a:r>
            <a:r>
              <a:rPr lang="es-DO" dirty="0" smtClean="0"/>
              <a:t>Henríquez</a:t>
            </a:r>
            <a:endParaRPr lang="es-DO" dirty="0"/>
          </a:p>
          <a:p>
            <a:pPr marL="0" indent="0">
              <a:buNone/>
            </a:pPr>
            <a:r>
              <a:rPr lang="es-DO" b="1" dirty="0"/>
              <a:t>Centro: </a:t>
            </a:r>
            <a:r>
              <a:rPr lang="es-DO" dirty="0" err="1"/>
              <a:t>Cyberclass</a:t>
            </a:r>
            <a:r>
              <a:rPr lang="es-DO" dirty="0"/>
              <a:t> - INFOTEP</a:t>
            </a:r>
          </a:p>
          <a:p>
            <a:pPr marL="0" indent="0">
              <a:buNone/>
            </a:pPr>
            <a:r>
              <a:rPr lang="es-DO" b="1" dirty="0"/>
              <a:t>Práctica: </a:t>
            </a:r>
            <a:r>
              <a:rPr lang="es-ES" dirty="0"/>
              <a:t>Encontrar </a:t>
            </a:r>
            <a:r>
              <a:rPr lang="es-ES" dirty="0" smtClean="0"/>
              <a:t>metadatos </a:t>
            </a:r>
            <a:r>
              <a:rPr lang="es-ES" dirty="0" smtClean="0"/>
              <a:t>de</a:t>
            </a:r>
            <a:r>
              <a:rPr lang="es-ES" dirty="0" smtClean="0"/>
              <a:t> </a:t>
            </a:r>
            <a:r>
              <a:rPr lang="es-ES" dirty="0" smtClean="0"/>
              <a:t>imágenes </a:t>
            </a:r>
            <a:r>
              <a:rPr lang="es-ES" dirty="0" smtClean="0"/>
              <a:t>y documentos con </a:t>
            </a:r>
            <a:r>
              <a:rPr lang="es-ES" dirty="0" err="1" smtClean="0"/>
              <a:t>Exiftool</a:t>
            </a:r>
            <a:r>
              <a:rPr lang="es-ES" dirty="0" smtClean="0"/>
              <a:t>.</a:t>
            </a:r>
            <a:endParaRPr lang="es-ES" dirty="0"/>
          </a:p>
          <a:p>
            <a:pPr marL="0" indent="0">
              <a:buNone/>
            </a:pPr>
            <a:r>
              <a:rPr lang="es-DO" b="1" dirty="0" smtClean="0"/>
              <a:t>Descripción</a:t>
            </a:r>
            <a:r>
              <a:rPr lang="es-DO" b="1" dirty="0"/>
              <a:t>: </a:t>
            </a:r>
            <a:r>
              <a:rPr lang="es-DO" dirty="0" smtClean="0"/>
              <a:t>Practica de como utilizar el programa </a:t>
            </a:r>
            <a:r>
              <a:rPr lang="es-DO" dirty="0" err="1" smtClean="0"/>
              <a:t>Exiftool</a:t>
            </a:r>
            <a:r>
              <a:rPr lang="es-DO" dirty="0" smtClean="0"/>
              <a:t> </a:t>
            </a:r>
            <a:r>
              <a:rPr lang="es-DO" dirty="0" smtClean="0"/>
              <a:t>para la obtención de metadatos.</a:t>
            </a:r>
            <a:endParaRPr lang="es-DO" dirty="0"/>
          </a:p>
          <a:p>
            <a:pPr marL="0" indent="0">
              <a:buNone/>
            </a:pPr>
            <a:r>
              <a:rPr lang="es-DO" b="1" dirty="0"/>
              <a:t>Link de GitHub: </a:t>
            </a:r>
            <a:r>
              <a:rPr lang="es-DO" dirty="0" smtClean="0">
                <a:hlinkClick r:id="rId2"/>
              </a:rPr>
              <a:t>https://github.com/elchecho3000-blip/Ciberseguridad-bootcamp/tree/main/An%C3%A1lisis%20Forense</a:t>
            </a:r>
            <a:endParaRPr lang="en-US" dirty="0"/>
          </a:p>
        </p:txBody>
      </p:sp>
      <p:pic>
        <p:nvPicPr>
          <p:cNvPr id="9" name="Imagen 8">
            <a:extLst>
              <a:ext uri="{FF2B5EF4-FFF2-40B4-BE49-F238E27FC236}">
                <a16:creationId xmlns="" xmlns:a16="http://schemas.microsoft.com/office/drawing/2014/main" id="{FA5D422F-3A50-7316-164A-9988FFF19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781" y="1027144"/>
            <a:ext cx="4505954" cy="1228896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="" xmlns:a16="http://schemas.microsoft.com/office/drawing/2014/main" id="{EA604EA8-DA9D-BB26-AE97-B776E9D4B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399" y="65290"/>
            <a:ext cx="4162425" cy="219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4461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51262" y="434397"/>
            <a:ext cx="9289473" cy="1325563"/>
          </a:xfrm>
        </p:spPr>
        <p:txBody>
          <a:bodyPr>
            <a:noAutofit/>
          </a:bodyPr>
          <a:lstStyle/>
          <a:p>
            <a:r>
              <a:rPr lang="es-DO" sz="2800" dirty="0" smtClean="0"/>
              <a:t>Este es el programa </a:t>
            </a:r>
            <a:r>
              <a:rPr lang="es-DO" sz="2800" dirty="0" err="1"/>
              <a:t>E</a:t>
            </a:r>
            <a:r>
              <a:rPr lang="es-DO" sz="2800" dirty="0" err="1" smtClean="0"/>
              <a:t>xiftool</a:t>
            </a:r>
            <a:r>
              <a:rPr lang="es-DO" sz="2800" dirty="0" smtClean="0"/>
              <a:t> </a:t>
            </a:r>
            <a:r>
              <a:rPr lang="es-DO" sz="2800" dirty="0" smtClean="0"/>
              <a:t>el cual puede utilizarse </a:t>
            </a:r>
            <a:r>
              <a:rPr lang="es-DO" sz="2800" dirty="0" smtClean="0"/>
              <a:t>vía </a:t>
            </a:r>
            <a:r>
              <a:rPr lang="es-DO" sz="2800" dirty="0" smtClean="0"/>
              <a:t>descarga o </a:t>
            </a:r>
            <a:r>
              <a:rPr lang="es-DO" sz="2800" dirty="0" smtClean="0"/>
              <a:t>vía </a:t>
            </a:r>
            <a:r>
              <a:rPr lang="es-DO" sz="2800" dirty="0" smtClean="0"/>
              <a:t>web, en esta ocasión lo utilizaremos modo de descarga</a:t>
            </a:r>
            <a:endParaRPr lang="es-DO" sz="2800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9291" y="1971293"/>
            <a:ext cx="6913417" cy="404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095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22013" y="1030143"/>
            <a:ext cx="6252904" cy="1325563"/>
          </a:xfrm>
        </p:spPr>
        <p:txBody>
          <a:bodyPr>
            <a:normAutofit/>
          </a:bodyPr>
          <a:lstStyle/>
          <a:p>
            <a:pPr algn="ctr"/>
            <a:r>
              <a:rPr lang="es-DO" sz="2800" dirty="0" smtClean="0"/>
              <a:t>Solo tenemos que arrastrar </a:t>
            </a:r>
            <a:r>
              <a:rPr lang="es-DO" sz="2800" dirty="0" smtClean="0"/>
              <a:t>el documento</a:t>
            </a:r>
            <a:r>
              <a:rPr lang="es-DO" sz="2800" dirty="0" smtClean="0"/>
              <a:t> </a:t>
            </a:r>
            <a:r>
              <a:rPr lang="es-DO" sz="2800" dirty="0" smtClean="0"/>
              <a:t>a la aplicación para el escaneo </a:t>
            </a:r>
            <a:endParaRPr lang="es-DO" sz="2800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6804" y="2579717"/>
            <a:ext cx="5363323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362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025881" y="259830"/>
            <a:ext cx="8140238" cy="1325563"/>
          </a:xfrm>
        </p:spPr>
        <p:txBody>
          <a:bodyPr>
            <a:normAutofit/>
          </a:bodyPr>
          <a:lstStyle/>
          <a:p>
            <a:r>
              <a:rPr lang="es-DO" sz="2800" dirty="0" smtClean="0"/>
              <a:t>Y listo, obtendremos los metadatos </a:t>
            </a:r>
            <a:r>
              <a:rPr lang="es-DO" sz="2800" dirty="0" smtClean="0"/>
              <a:t>del  primer archivo</a:t>
            </a:r>
            <a:endParaRPr lang="es-DO" sz="2800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3917" y="1375039"/>
            <a:ext cx="6184166" cy="4871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995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0764" y="931896"/>
            <a:ext cx="4513288" cy="4930021"/>
          </a:xfrm>
          <a:prstGeom prst="rect">
            <a:avLst/>
          </a:prstGeom>
        </p:spPr>
      </p:pic>
      <p:pic>
        <p:nvPicPr>
          <p:cNvPr id="5" name="Marcador de contenid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3353" y="931895"/>
            <a:ext cx="4262741" cy="493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649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9347" y="1049018"/>
            <a:ext cx="7707380" cy="493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004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5200" y="905319"/>
            <a:ext cx="6806728" cy="525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38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64163" y="982981"/>
            <a:ext cx="10463673" cy="914400"/>
          </a:xfrm>
        </p:spPr>
        <p:txBody>
          <a:bodyPr>
            <a:normAutofit fontScale="90000"/>
          </a:bodyPr>
          <a:lstStyle/>
          <a:p>
            <a:r>
              <a:rPr lang="es-DO" sz="3200" dirty="0" smtClean="0"/>
              <a:t>Otra opción de usarse es vía el CMD, analizaremos el segundo archivo</a:t>
            </a:r>
            <a:endParaRPr lang="es-DO" sz="3200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7787" y="2377440"/>
            <a:ext cx="9756426" cy="326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438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076" y="277485"/>
            <a:ext cx="5825263" cy="626523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7184" y="0"/>
            <a:ext cx="4744112" cy="679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269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96182" y="249873"/>
            <a:ext cx="5823078" cy="626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041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069080" y="433705"/>
            <a:ext cx="4053840" cy="732155"/>
          </a:xfrm>
        </p:spPr>
        <p:txBody>
          <a:bodyPr>
            <a:normAutofit/>
          </a:bodyPr>
          <a:lstStyle/>
          <a:p>
            <a:r>
              <a:rPr lang="es-DO" sz="2800" dirty="0" smtClean="0"/>
              <a:t>Tercer archivo de imagen</a:t>
            </a:r>
            <a:endParaRPr lang="es-DO" sz="2800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5062" y="1165859"/>
            <a:ext cx="5030938" cy="5376863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737" y="1165860"/>
            <a:ext cx="3704561" cy="537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647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140" y="342265"/>
            <a:ext cx="5603797" cy="600586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957" y="4423811"/>
            <a:ext cx="5801535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677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9486" y="1719335"/>
            <a:ext cx="5246514" cy="4351338"/>
          </a:xfrm>
          <a:prstGeom prst="rect">
            <a:avLst/>
          </a:prstGeom>
        </p:spPr>
      </p:pic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4057650" y="410845"/>
            <a:ext cx="4076700" cy="686435"/>
          </a:xfrm>
        </p:spPr>
        <p:txBody>
          <a:bodyPr>
            <a:normAutofit/>
          </a:bodyPr>
          <a:lstStyle/>
          <a:p>
            <a:r>
              <a:rPr lang="es-DO" sz="2800" dirty="0" smtClean="0"/>
              <a:t>Cuarto archivo de imagen</a:t>
            </a:r>
            <a:endParaRPr lang="es-DO" sz="28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961" y="1003763"/>
            <a:ext cx="4753638" cy="578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09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911" y="1217898"/>
            <a:ext cx="5631180" cy="513584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091" y="1166080"/>
            <a:ext cx="6335009" cy="523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368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99945"/>
            <a:ext cx="5455531" cy="435133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595" y="1259433"/>
            <a:ext cx="4829849" cy="5191850"/>
          </a:xfrm>
          <a:prstGeom prst="rect">
            <a:avLst/>
          </a:prstGeom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1478280" y="365125"/>
            <a:ext cx="4168140" cy="894308"/>
          </a:xfrm>
        </p:spPr>
        <p:txBody>
          <a:bodyPr>
            <a:normAutofit/>
          </a:bodyPr>
          <a:lstStyle/>
          <a:p>
            <a:r>
              <a:rPr lang="es-DO" sz="2800" dirty="0" smtClean="0"/>
              <a:t>Quinto archivo de imagen</a:t>
            </a:r>
            <a:endParaRPr lang="es-DO" sz="2800" dirty="0"/>
          </a:p>
        </p:txBody>
      </p:sp>
    </p:spTree>
    <p:extLst>
      <p:ext uri="{BB962C8B-B14F-4D97-AF65-F5344CB8AC3E}">
        <p14:creationId xmlns:p14="http://schemas.microsoft.com/office/powerpoint/2010/main" val="4187405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98118"/>
            <a:ext cx="5854079" cy="6207801"/>
          </a:xfrm>
          <a:prstGeom prst="rect">
            <a:avLst/>
          </a:prstGeom>
        </p:spPr>
      </p:pic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079" y="1027906"/>
            <a:ext cx="6335009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4305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781425" y="502285"/>
            <a:ext cx="4629150" cy="686435"/>
          </a:xfrm>
        </p:spPr>
        <p:txBody>
          <a:bodyPr>
            <a:normAutofit fontScale="90000"/>
          </a:bodyPr>
          <a:lstStyle/>
          <a:p>
            <a:r>
              <a:rPr lang="es-DO" dirty="0" smtClean="0"/>
              <a:t>Primer PDF analizado</a:t>
            </a:r>
            <a:endParaRPr lang="es-DO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6900" y="1441546"/>
            <a:ext cx="8458200" cy="486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3231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3544" y="1394460"/>
            <a:ext cx="6524911" cy="4942523"/>
          </a:xfrm>
          <a:prstGeom prst="rect">
            <a:avLst/>
          </a:prstGeom>
        </p:spPr>
      </p:pic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623310" y="685165"/>
            <a:ext cx="4945380" cy="709295"/>
          </a:xfrm>
        </p:spPr>
        <p:txBody>
          <a:bodyPr>
            <a:normAutofit fontScale="90000"/>
          </a:bodyPr>
          <a:lstStyle/>
          <a:p>
            <a:r>
              <a:rPr lang="es-DO" dirty="0" smtClean="0"/>
              <a:t>Segundo PDF analizado</a:t>
            </a:r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2558672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7350" y="1302385"/>
            <a:ext cx="8877300" cy="1325563"/>
          </a:xfrm>
        </p:spPr>
        <p:txBody>
          <a:bodyPr>
            <a:normAutofit/>
          </a:bodyPr>
          <a:lstStyle/>
          <a:p>
            <a:r>
              <a:rPr lang="es-DO" sz="2800" dirty="0" smtClean="0"/>
              <a:t>Este es un comando para saber si está instalado y la versión del </a:t>
            </a:r>
            <a:r>
              <a:rPr lang="es-DO" sz="2800" dirty="0" err="1" smtClean="0"/>
              <a:t>Exiftool</a:t>
            </a:r>
            <a:r>
              <a:rPr lang="es-DO" sz="2800" dirty="0" smtClean="0"/>
              <a:t>, y también realice una búsqueda personalizada de los parámetros requeridos para cierta búsqueda.</a:t>
            </a:r>
            <a:endParaRPr lang="es-DO" sz="2800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292" y="3108960"/>
            <a:ext cx="11545416" cy="2367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7818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01138" y="500062"/>
            <a:ext cx="9189721" cy="1325563"/>
          </a:xfrm>
        </p:spPr>
        <p:txBody>
          <a:bodyPr>
            <a:normAutofit/>
          </a:bodyPr>
          <a:lstStyle/>
          <a:p>
            <a:r>
              <a:rPr lang="es-DO" sz="2800" dirty="0" smtClean="0"/>
              <a:t>Aquí aplicamos el borrado de metadatos de la segunda imagen y se puede observar que la mayoría de ellos ya no están, además de que tampoco los mas críticos aparecen</a:t>
            </a:r>
            <a:endParaRPr lang="es-DO" sz="2800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9038" y="1825625"/>
            <a:ext cx="613392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647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0481" y="462108"/>
            <a:ext cx="9763992" cy="521566"/>
          </a:xfrm>
        </p:spPr>
        <p:txBody>
          <a:bodyPr>
            <a:normAutofit/>
          </a:bodyPr>
          <a:lstStyle/>
          <a:p>
            <a:r>
              <a:rPr lang="es-DO" sz="2800" b="1" dirty="0" smtClean="0"/>
              <a:t>Estos son los metadatos principales que se obtienen con </a:t>
            </a:r>
            <a:r>
              <a:rPr lang="es-DO" sz="2800" b="1" dirty="0" err="1" smtClean="0"/>
              <a:t>E</a:t>
            </a:r>
            <a:r>
              <a:rPr lang="es-DO" sz="2800" b="1" dirty="0" err="1" smtClean="0"/>
              <a:t>xiftool</a:t>
            </a:r>
            <a:endParaRPr lang="es-DO" sz="2800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93618" y="1451757"/>
            <a:ext cx="4648200" cy="538941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b="1" dirty="0" err="1" smtClean="0">
                <a:latin typeface="+mj-lt"/>
              </a:rPr>
              <a:t>Geolocalización</a:t>
            </a:r>
            <a:endParaRPr lang="es-ES" b="1" dirty="0">
              <a:latin typeface="+mj-lt"/>
            </a:endParaRPr>
          </a:p>
          <a:p>
            <a:pPr marL="0" indent="0" algn="ctr">
              <a:buNone/>
            </a:pPr>
            <a:endParaRPr lang="es-ES" b="1" dirty="0">
              <a:latin typeface="+mj-lt"/>
            </a:endParaRPr>
          </a:p>
          <a:p>
            <a:r>
              <a:rPr lang="es-ES" dirty="0">
                <a:latin typeface="+mj-lt"/>
              </a:rPr>
              <a:t>Latitud GPS</a:t>
            </a:r>
          </a:p>
          <a:p>
            <a:r>
              <a:rPr lang="es-ES" dirty="0">
                <a:latin typeface="+mj-lt"/>
              </a:rPr>
              <a:t>Longitud GPS</a:t>
            </a:r>
          </a:p>
          <a:p>
            <a:r>
              <a:rPr lang="es-ES" dirty="0">
                <a:latin typeface="+mj-lt"/>
              </a:rPr>
              <a:t>Altitud GPS</a:t>
            </a:r>
          </a:p>
          <a:p>
            <a:r>
              <a:rPr lang="es-ES" dirty="0">
                <a:latin typeface="+mj-lt"/>
              </a:rPr>
              <a:t>Rumbo de la imagen GPS </a:t>
            </a:r>
            <a:r>
              <a:rPr lang="es-ES" dirty="0" smtClean="0">
                <a:latin typeface="+mj-lt"/>
              </a:rPr>
              <a:t>(Dirección a la que apuntaba la cámara)</a:t>
            </a:r>
          </a:p>
          <a:p>
            <a:r>
              <a:rPr lang="es-ES" dirty="0" smtClean="0">
                <a:latin typeface="+mj-lt"/>
              </a:rPr>
              <a:t>Sello de tiempo GPS (Hora UTC sincronizada por satélite)</a:t>
            </a:r>
            <a:endParaRPr lang="es-ES" dirty="0">
              <a:latin typeface="+mj-lt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6040582" y="1451757"/>
            <a:ext cx="515389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latin typeface="+mj-lt"/>
              </a:rPr>
              <a:t>Fechas y </a:t>
            </a:r>
            <a:r>
              <a:rPr lang="es-ES" sz="2800" b="1" dirty="0" smtClean="0">
                <a:latin typeface="+mj-lt"/>
              </a:rPr>
              <a:t>Tiempos</a:t>
            </a:r>
          </a:p>
          <a:p>
            <a:endParaRPr lang="es-ES" sz="2800" b="1" dirty="0"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latin typeface="+mj-lt"/>
              </a:rPr>
              <a:t>Fecha y hora de creación del contenido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latin typeface="+mj-lt"/>
              </a:rPr>
              <a:t>Fecha y hora de modificación del archivo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latin typeface="+mj-lt"/>
              </a:rPr>
              <a:t>Fecha y hora de digitalización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latin typeface="+mj-lt"/>
              </a:rPr>
              <a:t>Fecha y hora de acceso al archivo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latin typeface="+mj-lt"/>
              </a:rPr>
              <a:t>Zona horaria del dispositivo</a:t>
            </a:r>
          </a:p>
        </p:txBody>
      </p:sp>
    </p:spTree>
    <p:extLst>
      <p:ext uri="{BB962C8B-B14F-4D97-AF65-F5344CB8AC3E}">
        <p14:creationId xmlns:p14="http://schemas.microsoft.com/office/powerpoint/2010/main" val="42373469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30381" y="412461"/>
            <a:ext cx="5450379" cy="611303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ES" b="1" dirty="0">
                <a:latin typeface="+mj-lt"/>
              </a:rPr>
              <a:t>Configuración Técnica de </a:t>
            </a:r>
            <a:r>
              <a:rPr lang="es-ES" b="1" dirty="0" smtClean="0">
                <a:latin typeface="+mj-lt"/>
              </a:rPr>
              <a:t>Captura</a:t>
            </a:r>
          </a:p>
          <a:p>
            <a:pPr marL="0" indent="0" algn="ctr">
              <a:buNone/>
            </a:pPr>
            <a:r>
              <a:rPr lang="es-ES" b="1" dirty="0" smtClean="0">
                <a:latin typeface="+mj-lt"/>
              </a:rPr>
              <a:t> </a:t>
            </a:r>
            <a:endParaRPr lang="es-ES" b="1" dirty="0">
              <a:latin typeface="+mj-lt"/>
            </a:endParaRPr>
          </a:p>
          <a:p>
            <a:r>
              <a:rPr lang="es-ES" dirty="0">
                <a:latin typeface="+mj-lt"/>
              </a:rPr>
              <a:t>Tiempo de exposición </a:t>
            </a:r>
            <a:r>
              <a:rPr lang="es-ES" dirty="0" smtClean="0">
                <a:latin typeface="+mj-lt"/>
              </a:rPr>
              <a:t>(</a:t>
            </a:r>
            <a:r>
              <a:rPr lang="es-ES" dirty="0">
                <a:latin typeface="+mj-lt"/>
              </a:rPr>
              <a:t>Velocidad de obturación)</a:t>
            </a:r>
          </a:p>
          <a:p>
            <a:r>
              <a:rPr lang="es-ES" dirty="0">
                <a:latin typeface="+mj-lt"/>
              </a:rPr>
              <a:t>Apertura del diafragma </a:t>
            </a:r>
            <a:r>
              <a:rPr lang="es-ES" dirty="0" smtClean="0">
                <a:latin typeface="+mj-lt"/>
              </a:rPr>
              <a:t>(Número F)</a:t>
            </a:r>
            <a:endParaRPr lang="es-ES" dirty="0">
              <a:latin typeface="+mj-lt"/>
            </a:endParaRPr>
          </a:p>
          <a:p>
            <a:r>
              <a:rPr lang="es-ES" dirty="0">
                <a:latin typeface="+mj-lt"/>
              </a:rPr>
              <a:t>Sensibilidad ISO</a:t>
            </a:r>
          </a:p>
          <a:p>
            <a:r>
              <a:rPr lang="es-ES" dirty="0">
                <a:latin typeface="+mj-lt"/>
              </a:rPr>
              <a:t>Distancia focal</a:t>
            </a:r>
          </a:p>
          <a:p>
            <a:r>
              <a:rPr lang="es-ES" dirty="0">
                <a:latin typeface="+mj-lt"/>
              </a:rPr>
              <a:t>Uso de flash (Activado/Desactivado)</a:t>
            </a:r>
          </a:p>
          <a:p>
            <a:r>
              <a:rPr lang="es-ES" dirty="0">
                <a:latin typeface="+mj-lt"/>
              </a:rPr>
              <a:t>Modo de medición de luz</a:t>
            </a:r>
          </a:p>
          <a:p>
            <a:r>
              <a:rPr lang="es-ES" dirty="0">
                <a:latin typeface="+mj-lt"/>
              </a:rPr>
              <a:t>Balance de </a:t>
            </a:r>
            <a:r>
              <a:rPr lang="es-ES" dirty="0" smtClean="0">
                <a:latin typeface="+mj-lt"/>
              </a:rPr>
              <a:t>blancos</a:t>
            </a:r>
            <a:endParaRPr lang="es-ES" dirty="0">
              <a:latin typeface="+mj-lt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6303818" y="412461"/>
            <a:ext cx="6096000" cy="510909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sz="2800" b="1" dirty="0">
                <a:latin typeface="+mj-lt"/>
              </a:rPr>
              <a:t>Propiedades y Estructura del </a:t>
            </a:r>
            <a:r>
              <a:rPr lang="es-ES" sz="2800" b="1" dirty="0" smtClean="0">
                <a:latin typeface="+mj-lt"/>
              </a:rPr>
              <a:t>Archivo</a:t>
            </a:r>
          </a:p>
          <a:p>
            <a:endParaRPr lang="es-ES" sz="2800" b="1" dirty="0"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latin typeface="+mj-lt"/>
              </a:rPr>
              <a:t>Tipo de archivo real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latin typeface="+mj-lt"/>
              </a:rPr>
              <a:t>Tipo MIME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latin typeface="+mj-lt"/>
              </a:rPr>
              <a:t>Tamaño del archivo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latin typeface="+mj-lt"/>
              </a:rPr>
              <a:t>Ancho de la imagen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latin typeface="+mj-lt"/>
              </a:rPr>
              <a:t>Alto de la imagen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latin typeface="+mj-lt"/>
              </a:rPr>
              <a:t>Resolución horizontal y vertical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latin typeface="+mj-lt"/>
              </a:rPr>
              <a:t>Compresión de datos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latin typeface="+mj-lt"/>
              </a:rPr>
              <a:t>Hash del archivo (identificadores únicos incorporados)</a:t>
            </a:r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39334365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559723" y="1959775"/>
            <a:ext cx="6732617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800" b="1" dirty="0">
                <a:latin typeface="+mj-lt"/>
              </a:rPr>
              <a:t>Identificación de Dispositivos y </a:t>
            </a:r>
            <a:r>
              <a:rPr lang="es-ES" sz="2800" b="1" dirty="0" smtClean="0">
                <a:latin typeface="+mj-lt"/>
              </a:rPr>
              <a:t>Hardware</a:t>
            </a:r>
          </a:p>
          <a:p>
            <a:endParaRPr lang="es-ES" sz="2800" b="1" dirty="0"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latin typeface="+mj-lt"/>
              </a:rPr>
              <a:t>Marca de la cámara/móvil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latin typeface="+mj-lt"/>
              </a:rPr>
              <a:t>Modelo del dispositivo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latin typeface="+mj-lt"/>
              </a:rPr>
              <a:t>Número de serie del cuerpo de la cámara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latin typeface="+mj-lt"/>
              </a:rPr>
              <a:t>Número de serie de la lente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latin typeface="+mj-lt"/>
              </a:rPr>
              <a:t>Versión del firmware del dispositivo</a:t>
            </a:r>
          </a:p>
        </p:txBody>
      </p:sp>
      <p:sp>
        <p:nvSpPr>
          <p:cNvPr id="3" name="Marcador de contenido 3"/>
          <p:cNvSpPr>
            <a:spLocks noGrp="1"/>
          </p:cNvSpPr>
          <p:nvPr>
            <p:ph idx="1"/>
          </p:nvPr>
        </p:nvSpPr>
        <p:spPr>
          <a:xfrm>
            <a:off x="7513320" y="382226"/>
            <a:ext cx="4328160" cy="6263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DO" b="1" dirty="0">
                <a:latin typeface="+mj-lt"/>
              </a:rPr>
              <a:t>Información de </a:t>
            </a:r>
            <a:r>
              <a:rPr lang="es-DO" b="1" dirty="0" smtClean="0">
                <a:latin typeface="+mj-lt"/>
              </a:rPr>
              <a:t>Vídeo</a:t>
            </a:r>
          </a:p>
          <a:p>
            <a:pPr marL="0" indent="0">
              <a:buNone/>
            </a:pPr>
            <a:endParaRPr lang="es-DO" dirty="0">
              <a:latin typeface="+mj-lt"/>
            </a:endParaRPr>
          </a:p>
          <a:p>
            <a:pPr lvl="0"/>
            <a:r>
              <a:rPr lang="es-DO" dirty="0">
                <a:latin typeface="+mj-lt"/>
              </a:rPr>
              <a:t>Códec de vídeo </a:t>
            </a:r>
          </a:p>
          <a:p>
            <a:pPr lvl="0"/>
            <a:r>
              <a:rPr lang="es-DO" dirty="0">
                <a:latin typeface="+mj-lt"/>
              </a:rPr>
              <a:t>Códec de audio </a:t>
            </a:r>
          </a:p>
          <a:p>
            <a:pPr lvl="0"/>
            <a:r>
              <a:rPr lang="es-DO" dirty="0" err="1">
                <a:latin typeface="+mj-lt"/>
              </a:rPr>
              <a:t>Bitrate</a:t>
            </a:r>
            <a:r>
              <a:rPr lang="es-DO" dirty="0">
                <a:latin typeface="+mj-lt"/>
              </a:rPr>
              <a:t> </a:t>
            </a:r>
          </a:p>
          <a:p>
            <a:pPr lvl="0"/>
            <a:r>
              <a:rPr lang="es-DO" dirty="0" err="1">
                <a:latin typeface="+mj-lt"/>
              </a:rPr>
              <a:t>Frames</a:t>
            </a:r>
            <a:r>
              <a:rPr lang="es-DO" dirty="0">
                <a:latin typeface="+mj-lt"/>
              </a:rPr>
              <a:t> por segundo (FPS) </a:t>
            </a:r>
          </a:p>
          <a:p>
            <a:pPr lvl="0"/>
            <a:r>
              <a:rPr lang="es-DO" dirty="0">
                <a:latin typeface="+mj-lt"/>
              </a:rPr>
              <a:t>Duración </a:t>
            </a:r>
          </a:p>
          <a:p>
            <a:pPr lvl="0"/>
            <a:r>
              <a:rPr lang="es-DO" dirty="0">
                <a:latin typeface="+mj-lt"/>
              </a:rPr>
              <a:t>Resolución </a:t>
            </a:r>
          </a:p>
          <a:p>
            <a:pPr lvl="0"/>
            <a:r>
              <a:rPr lang="es-DO" dirty="0">
                <a:latin typeface="+mj-lt"/>
              </a:rPr>
              <a:t>Rotación </a:t>
            </a:r>
          </a:p>
          <a:p>
            <a:pPr lvl="0"/>
            <a:r>
              <a:rPr lang="es-DO" dirty="0">
                <a:latin typeface="+mj-lt"/>
              </a:rPr>
              <a:t>GPS por fotograma </a:t>
            </a:r>
          </a:p>
          <a:p>
            <a:pPr lvl="0"/>
            <a:r>
              <a:rPr lang="es-DO" dirty="0">
                <a:latin typeface="+mj-lt"/>
              </a:rPr>
              <a:t>Fecha de grabación </a:t>
            </a:r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40770187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32460" y="868680"/>
            <a:ext cx="5745480" cy="5079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DO" b="1" dirty="0">
                <a:latin typeface="+mj-lt"/>
              </a:rPr>
              <a:t>Información de Derechos y </a:t>
            </a:r>
            <a:r>
              <a:rPr lang="es-DO" b="1" dirty="0" smtClean="0">
                <a:latin typeface="+mj-lt"/>
              </a:rPr>
              <a:t>Autoría</a:t>
            </a:r>
          </a:p>
          <a:p>
            <a:pPr marL="0" indent="0">
              <a:buNone/>
            </a:pPr>
            <a:endParaRPr lang="es-DO" dirty="0">
              <a:latin typeface="+mj-lt"/>
            </a:endParaRPr>
          </a:p>
          <a:p>
            <a:pPr lvl="0"/>
            <a:r>
              <a:rPr lang="es-DO" dirty="0">
                <a:latin typeface="+mj-lt"/>
              </a:rPr>
              <a:t>Autor </a:t>
            </a:r>
          </a:p>
          <a:p>
            <a:pPr lvl="0"/>
            <a:r>
              <a:rPr lang="es-DO" dirty="0">
                <a:latin typeface="+mj-lt"/>
              </a:rPr>
              <a:t>Copyright </a:t>
            </a:r>
          </a:p>
          <a:p>
            <a:pPr lvl="0"/>
            <a:r>
              <a:rPr lang="es-DO" dirty="0">
                <a:latin typeface="+mj-lt"/>
              </a:rPr>
              <a:t>Propietario </a:t>
            </a:r>
          </a:p>
          <a:p>
            <a:pPr lvl="0"/>
            <a:r>
              <a:rPr lang="es-DO" dirty="0">
                <a:latin typeface="+mj-lt"/>
              </a:rPr>
              <a:t>Organización </a:t>
            </a:r>
          </a:p>
          <a:p>
            <a:pPr lvl="0"/>
            <a:r>
              <a:rPr lang="es-DO" dirty="0">
                <a:latin typeface="+mj-lt"/>
              </a:rPr>
              <a:t>Información de contacto </a:t>
            </a:r>
          </a:p>
          <a:p>
            <a:pPr lvl="0"/>
            <a:r>
              <a:rPr lang="es-DO" dirty="0">
                <a:latin typeface="+mj-lt"/>
              </a:rPr>
              <a:t>Licencia de uso </a:t>
            </a:r>
          </a:p>
          <a:p>
            <a:pPr lvl="0"/>
            <a:r>
              <a:rPr lang="es-DO" dirty="0">
                <a:latin typeface="+mj-lt"/>
              </a:rPr>
              <a:t>Créditos IPTC </a:t>
            </a:r>
          </a:p>
          <a:p>
            <a:endParaRPr lang="es-DO" dirty="0"/>
          </a:p>
        </p:txBody>
      </p:sp>
      <p:sp>
        <p:nvSpPr>
          <p:cNvPr id="4" name="Marcador de contenido 2"/>
          <p:cNvSpPr txBox="1">
            <a:spLocks/>
          </p:cNvSpPr>
          <p:nvPr/>
        </p:nvSpPr>
        <p:spPr>
          <a:xfrm>
            <a:off x="6240780" y="868680"/>
            <a:ext cx="6019800" cy="53997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DO" b="1" dirty="0" smtClean="0">
                <a:latin typeface="+mj-lt"/>
              </a:rPr>
              <a:t>Información de Integridad y Forense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DO" dirty="0" smtClean="0">
              <a:latin typeface="+mj-lt"/>
            </a:endParaRPr>
          </a:p>
          <a:p>
            <a:r>
              <a:rPr lang="es-DO" dirty="0" smtClean="0">
                <a:latin typeface="+mj-lt"/>
              </a:rPr>
              <a:t>Hash MD5 </a:t>
            </a:r>
          </a:p>
          <a:p>
            <a:r>
              <a:rPr lang="es-DO" dirty="0" smtClean="0">
                <a:latin typeface="+mj-lt"/>
              </a:rPr>
              <a:t>Hash SHA-1 </a:t>
            </a:r>
          </a:p>
          <a:p>
            <a:r>
              <a:rPr lang="es-DO" dirty="0" smtClean="0">
                <a:latin typeface="+mj-lt"/>
              </a:rPr>
              <a:t>Hash SHA-256 </a:t>
            </a:r>
          </a:p>
          <a:p>
            <a:r>
              <a:rPr lang="es-DO" dirty="0" smtClean="0">
                <a:latin typeface="+mj-lt"/>
              </a:rPr>
              <a:t>Estructura de segmentos JPEG </a:t>
            </a:r>
          </a:p>
          <a:p>
            <a:r>
              <a:rPr lang="es-DO" dirty="0" smtClean="0">
                <a:latin typeface="+mj-lt"/>
              </a:rPr>
              <a:t>Tablas EXIF dañadas o alteradas </a:t>
            </a:r>
          </a:p>
          <a:p>
            <a:r>
              <a:rPr lang="es-DO" dirty="0" smtClean="0">
                <a:latin typeface="+mj-lt"/>
              </a:rPr>
              <a:t>Inconsistencias entre EXIF, XMP e IPTC </a:t>
            </a:r>
          </a:p>
          <a:p>
            <a:r>
              <a:rPr lang="es-DO" dirty="0" smtClean="0">
                <a:latin typeface="+mj-lt"/>
              </a:rPr>
              <a:t>Evidencias de edición o </a:t>
            </a:r>
            <a:r>
              <a:rPr lang="es-DO" dirty="0" err="1" smtClean="0">
                <a:latin typeface="+mj-lt"/>
              </a:rPr>
              <a:t>recompresión</a:t>
            </a:r>
            <a:r>
              <a:rPr lang="es-DO" dirty="0" smtClean="0">
                <a:latin typeface="+mj-lt"/>
              </a:rPr>
              <a:t> </a:t>
            </a:r>
          </a:p>
          <a:p>
            <a:r>
              <a:rPr lang="es-DO" dirty="0" smtClean="0">
                <a:latin typeface="+mj-lt"/>
              </a:rPr>
              <a:t>Firmas de software de manipulación </a:t>
            </a:r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16577783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18263" y="392834"/>
            <a:ext cx="3955473" cy="1325563"/>
          </a:xfrm>
        </p:spPr>
        <p:txBody>
          <a:bodyPr>
            <a:normAutofit/>
          </a:bodyPr>
          <a:lstStyle/>
          <a:p>
            <a:r>
              <a:rPr lang="es-DO" sz="2800" b="1" dirty="0" smtClean="0"/>
              <a:t>Con esta practica aprendí:</a:t>
            </a:r>
            <a:endParaRPr lang="es-DO" sz="2800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DO" dirty="0" smtClean="0">
                <a:latin typeface="+mj-lt"/>
              </a:rPr>
              <a:t>A utilizar la herramienta </a:t>
            </a:r>
            <a:r>
              <a:rPr lang="es-DO" dirty="0" smtClean="0">
                <a:latin typeface="+mj-lt"/>
              </a:rPr>
              <a:t>“</a:t>
            </a:r>
            <a:r>
              <a:rPr lang="es-DO" b="1" dirty="0" err="1">
                <a:latin typeface="+mj-lt"/>
              </a:rPr>
              <a:t>E</a:t>
            </a:r>
            <a:r>
              <a:rPr lang="es-DO" b="1" dirty="0" err="1" smtClean="0">
                <a:latin typeface="+mj-lt"/>
              </a:rPr>
              <a:t>xiftool</a:t>
            </a:r>
            <a:r>
              <a:rPr lang="es-DO" dirty="0" smtClean="0">
                <a:latin typeface="+mj-lt"/>
              </a:rPr>
              <a:t>” para la obtención de los metadatos de una </a:t>
            </a:r>
            <a:r>
              <a:rPr lang="es-DO" dirty="0" smtClean="0">
                <a:latin typeface="+mj-lt"/>
              </a:rPr>
              <a:t>imagen o documento.</a:t>
            </a:r>
            <a:endParaRPr lang="es-DO" dirty="0" smtClean="0">
              <a:latin typeface="+mj-lt"/>
            </a:endParaRPr>
          </a:p>
          <a:p>
            <a:pPr marL="0" indent="0">
              <a:buNone/>
            </a:pPr>
            <a:endParaRPr lang="es-DO" dirty="0">
              <a:latin typeface="+mj-lt"/>
            </a:endParaRPr>
          </a:p>
          <a:p>
            <a:pPr marL="0" indent="0">
              <a:buNone/>
            </a:pPr>
            <a:r>
              <a:rPr lang="es-DO" b="1" dirty="0" smtClean="0">
                <a:latin typeface="+mj-lt"/>
              </a:rPr>
              <a:t>Ojo: </a:t>
            </a:r>
            <a:r>
              <a:rPr lang="es-DO" dirty="0" smtClean="0">
                <a:latin typeface="+mj-lt"/>
              </a:rPr>
              <a:t>si la imagen fue descargada de una red social lo mas probable es que no contenga la mayoría de los metadatos, como por ejemplo la imagen a continuación:</a:t>
            </a:r>
            <a:endParaRPr lang="es-DO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880646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6229" y="831272"/>
            <a:ext cx="8059542" cy="5359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2170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747</TotalTime>
  <Words>457</Words>
  <Application>Microsoft Office PowerPoint</Application>
  <PresentationFormat>Panorámica</PresentationFormat>
  <Paragraphs>94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Tema de Office</vt:lpstr>
      <vt:lpstr>Presentación de PowerPoint</vt:lpstr>
      <vt:lpstr>Este es el programa Exiftool el cual puede utilizarse vía descarga o vía web, en esta ocasión lo utilizaremos modo de descarga</vt:lpstr>
      <vt:lpstr>Solo tenemos que arrastrar el documento a la aplicación para el escaneo </vt:lpstr>
      <vt:lpstr>Y listo, obtendremos los metadatos del  primer archivo</vt:lpstr>
      <vt:lpstr>Presentación de PowerPoint</vt:lpstr>
      <vt:lpstr>Presentación de PowerPoint</vt:lpstr>
      <vt:lpstr>Presentación de PowerPoint</vt:lpstr>
      <vt:lpstr>Otra opción de usarse es vía el CMD, analizaremos el segundo archivo</vt:lpstr>
      <vt:lpstr>Presentación de PowerPoint</vt:lpstr>
      <vt:lpstr>Presentación de PowerPoint</vt:lpstr>
      <vt:lpstr>Tercer archivo de imagen</vt:lpstr>
      <vt:lpstr>Presentación de PowerPoint</vt:lpstr>
      <vt:lpstr>Cuarto archivo de imagen</vt:lpstr>
      <vt:lpstr>Presentación de PowerPoint</vt:lpstr>
      <vt:lpstr>Quinto archivo de imagen</vt:lpstr>
      <vt:lpstr>Presentación de PowerPoint</vt:lpstr>
      <vt:lpstr>Primer PDF analizado</vt:lpstr>
      <vt:lpstr>Segundo PDF analizado</vt:lpstr>
      <vt:lpstr>Este es un comando para saber si está instalado y la versión del Exiftool, y también realice una búsqueda personalizada de los parámetros requeridos para cierta búsqueda.</vt:lpstr>
      <vt:lpstr>Aquí aplicamos el borrado de metadatos de la segunda imagen y se puede observar que la mayoría de ellos ya no están, además de que tampoco los mas críticos aparecen</vt:lpstr>
      <vt:lpstr>Estos son los metadatos principales que se obtienen con Exiftool</vt:lpstr>
      <vt:lpstr>Presentación de PowerPoint</vt:lpstr>
      <vt:lpstr>Presentación de PowerPoint</vt:lpstr>
      <vt:lpstr>Presentación de PowerPoint</vt:lpstr>
      <vt:lpstr>Con esta practica aprendí: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</dc:title>
  <dc:creator>Luis Reyes</dc:creator>
  <cp:lastModifiedBy>Cuenta Microsoft</cp:lastModifiedBy>
  <cp:revision>41</cp:revision>
  <dcterms:created xsi:type="dcterms:W3CDTF">2026-03-31T00:35:05Z</dcterms:created>
  <dcterms:modified xsi:type="dcterms:W3CDTF">2026-06-17T21:28:47Z</dcterms:modified>
</cp:coreProperties>
</file>