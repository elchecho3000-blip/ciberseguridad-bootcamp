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61" r:id="rId2"/>
    <p:sldId id="262" r:id="rId3"/>
    <p:sldId id="257" r:id="rId4"/>
    <p:sldId id="263" r:id="rId5"/>
    <p:sldId id="264" r:id="rId6"/>
    <p:sldId id="265" r:id="rId7"/>
    <p:sldId id="266" r:id="rId8"/>
    <p:sldId id="267" r:id="rId9"/>
    <p:sldId id="268" r:id="rId10"/>
    <p:sldId id="260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3" roundtripDataSignature="AMtx7mjI3enDXpBmqw/C9wjxooD0g/+c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2" d="100"/>
          <a:sy n="42" d="100"/>
        </p:scale>
        <p:origin x="60" y="6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customschemas.google.com/relationships/presentationmetadata" Target="meta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8086383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35509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958027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76148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D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0" name="Google Shape;20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D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D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D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D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D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D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D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D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D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DO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DO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elchecho3000-blip/Ciberseguridad-bootcamp/tree/main/Linux-Serve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subTitle" idx="1"/>
          </p:nvPr>
        </p:nvSpPr>
        <p:spPr>
          <a:xfrm>
            <a:off x="439100" y="2489200"/>
            <a:ext cx="11525100" cy="43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Participante: </a:t>
            </a:r>
            <a:r>
              <a:rPr lang="es-DO" dirty="0">
                <a:latin typeface="Verdana"/>
                <a:ea typeface="Verdana"/>
                <a:cs typeface="Verdana"/>
                <a:sym typeface="Verdana"/>
              </a:rPr>
              <a:t>Luis Ramon Reyes Volquez</a:t>
            </a:r>
            <a:endParaRPr dirty="0"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Facilitador: </a:t>
            </a:r>
            <a:r>
              <a:rPr lang="es-DO" dirty="0">
                <a:latin typeface="Verdana"/>
                <a:ea typeface="Verdana"/>
                <a:cs typeface="Verdana"/>
                <a:sym typeface="Verdana"/>
              </a:rPr>
              <a:t>Kevin Feliz Henríquez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ES" b="1" dirty="0">
                <a:latin typeface="Verdana"/>
                <a:ea typeface="Verdana"/>
                <a:cs typeface="Verdana"/>
                <a:sym typeface="Verdana"/>
              </a:rPr>
              <a:t>Técnico: </a:t>
            </a:r>
            <a:r>
              <a:rPr lang="es-ES" dirty="0">
                <a:latin typeface="Verdana"/>
                <a:ea typeface="Verdana"/>
                <a:cs typeface="Verdana"/>
                <a:sym typeface="Verdana"/>
              </a:rPr>
              <a:t>Ciberseguridad</a:t>
            </a:r>
            <a:endParaRPr dirty="0"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Módulo: </a:t>
            </a:r>
            <a:r>
              <a:rPr lang="es-ES" dirty="0" smtClean="0">
                <a:latin typeface="Verdana"/>
                <a:ea typeface="Verdana"/>
                <a:cs typeface="Verdana"/>
                <a:sym typeface="Verdana"/>
              </a:rPr>
              <a:t>Instalación y administración de Linux Server</a:t>
            </a:r>
            <a:endParaRPr lang="es-ES" dirty="0"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ES" b="1" dirty="0">
                <a:latin typeface="Verdana"/>
                <a:ea typeface="Verdana"/>
                <a:cs typeface="Verdana"/>
                <a:sym typeface="Verdana"/>
              </a:rPr>
              <a:t>Centro: </a:t>
            </a:r>
            <a:r>
              <a:rPr lang="es-ES" dirty="0" err="1" smtClean="0">
                <a:latin typeface="Verdana"/>
                <a:ea typeface="Verdana"/>
                <a:cs typeface="Verdana"/>
                <a:sym typeface="Verdana"/>
              </a:rPr>
              <a:t>Cyberclass</a:t>
            </a:r>
            <a:endParaRPr lang="es-ES" dirty="0"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DO" b="1" dirty="0" smtClean="0">
                <a:latin typeface="Verdana"/>
                <a:ea typeface="Verdana"/>
                <a:cs typeface="Verdana"/>
                <a:sym typeface="Verdana"/>
              </a:rPr>
              <a:t>Practica</a:t>
            </a: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: </a:t>
            </a:r>
            <a:r>
              <a:rPr lang="es-DO" dirty="0" smtClean="0">
                <a:latin typeface="Verdana" panose="020B0604030504040204" pitchFamily="34" charset="0"/>
                <a:ea typeface="Verdana" panose="020B0604030504040204" pitchFamily="34" charset="0"/>
              </a:rPr>
              <a:t>Investigación de </a:t>
            </a:r>
            <a:r>
              <a:rPr lang="es-DO" dirty="0">
                <a:latin typeface="Verdana" panose="020B0604030504040204" pitchFamily="34" charset="0"/>
                <a:ea typeface="Verdana" panose="020B0604030504040204" pitchFamily="34" charset="0"/>
              </a:rPr>
              <a:t>Linux </a:t>
            </a:r>
            <a:r>
              <a:rPr lang="es-DO" dirty="0" smtClean="0">
                <a:latin typeface="Verdana" panose="020B0604030504040204" pitchFamily="34" charset="0"/>
                <a:ea typeface="Verdana" panose="020B0604030504040204" pitchFamily="34" charset="0"/>
              </a:rPr>
              <a:t>server</a:t>
            </a:r>
            <a:endParaRPr lang="es-DO" b="1" dirty="0">
              <a:latin typeface="Verdana" panose="020B0604030504040204" pitchFamily="34" charset="0"/>
              <a:ea typeface="Verdana" panose="020B0604030504040204" pitchFamily="34" charset="0"/>
              <a:sym typeface="Verdana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DO" b="1" dirty="0" smtClean="0">
                <a:latin typeface="Verdana"/>
                <a:ea typeface="Verdana"/>
                <a:cs typeface="Verdana"/>
                <a:sym typeface="Verdana"/>
              </a:rPr>
              <a:t>Descripción: </a:t>
            </a:r>
            <a:r>
              <a:rPr lang="es-DO" dirty="0" smtClean="0">
                <a:latin typeface="Verdana"/>
                <a:ea typeface="Verdana"/>
                <a:cs typeface="Verdana"/>
                <a:sym typeface="Verdana"/>
              </a:rPr>
              <a:t>Esta es una investigación acerca de lo mas relevante que debemos de saber para empezar a trabajar con el SO Linux.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DO" b="1" dirty="0" err="1" smtClean="0">
                <a:latin typeface="Verdana"/>
                <a:ea typeface="Verdana"/>
                <a:cs typeface="Verdana"/>
                <a:sym typeface="Verdana"/>
              </a:rPr>
              <a:t>Github:</a:t>
            </a:r>
            <a:r>
              <a:rPr lang="es-DO" b="1" dirty="0" err="1" smtClean="0">
                <a:latin typeface="Verdana"/>
                <a:ea typeface="Verdana"/>
                <a:cs typeface="Verdana"/>
                <a:sym typeface="Verdana"/>
                <a:hlinkClick r:id="rId3"/>
              </a:rPr>
              <a:t>https</a:t>
            </a:r>
            <a:r>
              <a:rPr lang="es-DO" b="1" dirty="0" smtClean="0">
                <a:latin typeface="Verdana"/>
                <a:ea typeface="Verdana"/>
                <a:cs typeface="Verdana"/>
                <a:sym typeface="Verdana"/>
                <a:hlinkClick r:id="rId3"/>
              </a:rPr>
              <a:t>://github.com/elchecho3000-blip/</a:t>
            </a:r>
            <a:r>
              <a:rPr lang="es-DO" b="1" dirty="0" err="1" smtClean="0">
                <a:latin typeface="Verdana"/>
                <a:ea typeface="Verdana"/>
                <a:cs typeface="Verdana"/>
                <a:sym typeface="Verdana"/>
                <a:hlinkClick r:id="rId3"/>
              </a:rPr>
              <a:t>Ciberseguridad-bootcamp</a:t>
            </a:r>
            <a:r>
              <a:rPr lang="es-DO" b="1" dirty="0" smtClean="0">
                <a:latin typeface="Verdana"/>
                <a:ea typeface="Verdana"/>
                <a:cs typeface="Verdana"/>
                <a:sym typeface="Verdana"/>
                <a:hlinkClick r:id="rId3"/>
              </a:rPr>
              <a:t>/</a:t>
            </a:r>
            <a:r>
              <a:rPr lang="es-DO" b="1" dirty="0" err="1" smtClean="0">
                <a:latin typeface="Verdana"/>
                <a:ea typeface="Verdana"/>
                <a:cs typeface="Verdana"/>
                <a:sym typeface="Verdana"/>
                <a:hlinkClick r:id="rId3"/>
              </a:rPr>
              <a:t>tree</a:t>
            </a:r>
            <a:r>
              <a:rPr lang="es-DO" b="1" dirty="0" smtClean="0">
                <a:latin typeface="Verdana"/>
                <a:ea typeface="Verdana"/>
                <a:cs typeface="Verdana"/>
                <a:sym typeface="Verdana"/>
                <a:hlinkClick r:id="rId3"/>
              </a:rPr>
              <a:t>/</a:t>
            </a:r>
            <a:r>
              <a:rPr lang="es-DO" b="1" dirty="0" err="1" smtClean="0">
                <a:latin typeface="Verdana"/>
                <a:ea typeface="Verdana"/>
                <a:cs typeface="Verdana"/>
                <a:sym typeface="Verdana"/>
                <a:hlinkClick r:id="rId3"/>
              </a:rPr>
              <a:t>main</a:t>
            </a:r>
            <a:r>
              <a:rPr lang="es-DO" b="1" dirty="0" smtClean="0">
                <a:latin typeface="Verdana"/>
                <a:ea typeface="Verdana"/>
                <a:cs typeface="Verdana"/>
                <a:sym typeface="Verdana"/>
                <a:hlinkClick r:id="rId3"/>
              </a:rPr>
              <a:t>/Linux-Server</a:t>
            </a:r>
            <a:endParaRPr lang="es-DO" dirty="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6" name="Google Shape;8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12179" y="593646"/>
            <a:ext cx="2342695" cy="170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86;p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90487" y="1123742"/>
            <a:ext cx="4654700" cy="10007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37172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637164"/>
          </a:xfrm>
        </p:spPr>
        <p:txBody>
          <a:bodyPr>
            <a:normAutofit/>
          </a:bodyPr>
          <a:lstStyle/>
          <a:p>
            <a:r>
              <a:rPr lang="es-DO" sz="32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Introducción</a:t>
            </a:r>
            <a:endParaRPr lang="es-DO" sz="32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234440" y="2217420"/>
            <a:ext cx="9433560" cy="3063240"/>
          </a:xfrm>
        </p:spPr>
        <p:txBody>
          <a:bodyPr>
            <a:noAutofit/>
          </a:bodyPr>
          <a:lstStyle/>
          <a:p>
            <a:pPr algn="l"/>
            <a:r>
              <a:rPr lang="es-ES" dirty="0" smtClean="0">
                <a:latin typeface="Verdana" panose="020B0604030504040204" pitchFamily="34" charset="0"/>
                <a:ea typeface="Verdana" panose="020B0604030504040204" pitchFamily="34" charset="0"/>
              </a:rPr>
              <a:t>    El </a:t>
            </a:r>
            <a:r>
              <a:rPr lang="es-ES" dirty="0">
                <a:latin typeface="Verdana" panose="020B0604030504040204" pitchFamily="34" charset="0"/>
                <a:ea typeface="Verdana" panose="020B0604030504040204" pitchFamily="34" charset="0"/>
              </a:rPr>
              <a:t>presente trabajo aborda el ecosistema de </a:t>
            </a:r>
            <a:r>
              <a:rPr lang="es-ES" b="1" dirty="0">
                <a:latin typeface="Verdana" panose="020B0604030504040204" pitchFamily="34" charset="0"/>
                <a:ea typeface="Verdana" panose="020B0604030504040204" pitchFamily="34" charset="0"/>
              </a:rPr>
              <a:t>Linux Server</a:t>
            </a:r>
            <a:r>
              <a:rPr lang="es-ES" dirty="0">
                <a:latin typeface="Verdana" panose="020B0604030504040204" pitchFamily="34" charset="0"/>
                <a:ea typeface="Verdana" panose="020B0604030504040204" pitchFamily="34" charset="0"/>
              </a:rPr>
              <a:t>, una de las tecnologías más influyentes en la infraestructura digital moderna. A lo largo de este documento, se explorarán sus conceptos fundamentales, las características que lo hacen destacar frente a otros sistemas operativos, su impacto en la industria global y su papel crítico en el ámbito de la </a:t>
            </a:r>
            <a:r>
              <a:rPr lang="es-ES" dirty="0" err="1">
                <a:latin typeface="Verdana" panose="020B0604030504040204" pitchFamily="34" charset="0"/>
                <a:ea typeface="Verdana" panose="020B0604030504040204" pitchFamily="34" charset="0"/>
              </a:rPr>
              <a:t>ciberseguridad</a:t>
            </a:r>
            <a:r>
              <a:rPr lang="es-ES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es-DO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45993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SzPts val="4400"/>
            </a:pPr>
            <a:r>
              <a:rPr lang="es-DO" sz="3200" b="1" dirty="0">
                <a:latin typeface="Verdana" panose="020B0604030504040204" pitchFamily="34" charset="0"/>
                <a:ea typeface="Verdana" panose="020B0604030504040204" pitchFamily="34" charset="0"/>
              </a:rPr>
              <a:t>Desarrollo de Temas</a:t>
            </a:r>
            <a:endParaRPr sz="32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2" name="Google Shape;92;p2"/>
          <p:cNvSpPr txBox="1"/>
          <p:nvPr/>
        </p:nvSpPr>
        <p:spPr>
          <a:xfrm>
            <a:off x="1243200" y="1987868"/>
            <a:ext cx="9705600" cy="4001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s-ES" sz="28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Concepto </a:t>
            </a:r>
            <a:r>
              <a:rPr lang="es-ES" sz="2800" b="1" dirty="0">
                <a:latin typeface="Verdana" panose="020B0604030504040204" pitchFamily="34" charset="0"/>
                <a:ea typeface="Verdana" panose="020B0604030504040204" pitchFamily="34" charset="0"/>
              </a:rPr>
              <a:t>de Linux </a:t>
            </a:r>
            <a:r>
              <a:rPr lang="es-ES" sz="28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Server</a:t>
            </a:r>
            <a:endParaRPr lang="es-ES" sz="28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es-ES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s-ES" sz="2400" dirty="0">
                <a:latin typeface="Verdana" panose="020B0604030504040204" pitchFamily="34" charset="0"/>
                <a:ea typeface="Verdana" panose="020B0604030504040204" pitchFamily="34" charset="0"/>
              </a:rPr>
              <a:t>Un </a:t>
            </a:r>
            <a: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  <a:t>Linux Server</a:t>
            </a:r>
            <a:r>
              <a:rPr lang="es-ES" sz="2400" dirty="0">
                <a:latin typeface="Verdana" panose="020B0604030504040204" pitchFamily="34" charset="0"/>
                <a:ea typeface="Verdana" panose="020B0604030504040204" pitchFamily="34" charset="0"/>
              </a:rPr>
              <a:t> es una variante del sistema operativo Linux diseñada específicamente para gestionar servicios de red, aplicaciones empresariales y almacenamiento masivo. A diferencia de las versiones para usuario final, está optimizado para operar sin una interfaz gráfica (usando la línea de comandos), lo que maximiza la potencia disponible para tareas críticas.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480060"/>
            <a:ext cx="9128760" cy="5692140"/>
          </a:xfrm>
        </p:spPr>
        <p:txBody>
          <a:bodyPr>
            <a:normAutofit lnSpcReduction="10000"/>
          </a:bodyPr>
          <a:lstStyle/>
          <a:p>
            <a:r>
              <a:rPr lang="es-ES" sz="2800" b="1" dirty="0">
                <a:latin typeface="Verdana" panose="020B0604030504040204" pitchFamily="34" charset="0"/>
                <a:ea typeface="Verdana" panose="020B0604030504040204" pitchFamily="34" charset="0"/>
              </a:rPr>
              <a:t>Características </a:t>
            </a:r>
            <a:r>
              <a:rPr lang="es-ES" sz="28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Principales</a:t>
            </a:r>
          </a:p>
          <a:p>
            <a:pPr algn="l"/>
            <a:endParaRPr lang="es-ES" b="1" dirty="0" smtClean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/>
            <a:r>
              <a:rPr lang="es-ES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Estabilidad</a:t>
            </a:r>
            <a:r>
              <a:rPr lang="es-ES" b="1" dirty="0"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r>
              <a:rPr lang="es-ES" dirty="0">
                <a:latin typeface="Verdana" panose="020B0604030504040204" pitchFamily="34" charset="0"/>
                <a:ea typeface="Verdana" panose="020B0604030504040204" pitchFamily="34" charset="0"/>
              </a:rPr>
              <a:t> Capacidad de funcionar durante </a:t>
            </a:r>
            <a:r>
              <a:rPr lang="es-ES" dirty="0" smtClean="0">
                <a:latin typeface="Verdana" panose="020B0604030504040204" pitchFamily="34" charset="0"/>
                <a:ea typeface="Verdana" panose="020B0604030504040204" pitchFamily="34" charset="0"/>
              </a:rPr>
              <a:t>periodos</a:t>
            </a:r>
          </a:p>
          <a:p>
            <a:pPr algn="l"/>
            <a:r>
              <a:rPr lang="es-ES" dirty="0">
                <a:latin typeface="Verdana" panose="020B0604030504040204" pitchFamily="34" charset="0"/>
                <a:ea typeface="Verdana" panose="020B0604030504040204" pitchFamily="34" charset="0"/>
              </a:rPr>
              <a:t>prolongados (años) sin necesidad de reinicios</a:t>
            </a:r>
            <a:r>
              <a:rPr lang="es-ES" dirty="0" smtClean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es-E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/>
            <a:endParaRPr lang="es-ES" dirty="0" smtClean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/>
            <a:r>
              <a:rPr lang="es-ES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Eficiencia</a:t>
            </a:r>
            <a:r>
              <a:rPr lang="es-ES" b="1" dirty="0"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r>
              <a:rPr lang="es-ES" dirty="0">
                <a:latin typeface="Verdana" panose="020B0604030504040204" pitchFamily="34" charset="0"/>
                <a:ea typeface="Verdana" panose="020B0604030504040204" pitchFamily="34" charset="0"/>
              </a:rPr>
              <a:t> Bajo consumo de recursos de hardware (</a:t>
            </a:r>
            <a:r>
              <a:rPr lang="es-ES" dirty="0" smtClean="0">
                <a:latin typeface="Verdana" panose="020B0604030504040204" pitchFamily="34" charset="0"/>
                <a:ea typeface="Verdana" panose="020B0604030504040204" pitchFamily="34" charset="0"/>
              </a:rPr>
              <a:t>RAM </a:t>
            </a:r>
          </a:p>
          <a:p>
            <a:pPr algn="l"/>
            <a:r>
              <a:rPr lang="es-ES" dirty="0" smtClean="0">
                <a:latin typeface="Verdana" panose="020B0604030504040204" pitchFamily="34" charset="0"/>
                <a:ea typeface="Verdana" panose="020B0604030504040204" pitchFamily="34" charset="0"/>
              </a:rPr>
              <a:t>y </a:t>
            </a:r>
            <a:r>
              <a:rPr lang="es-ES" dirty="0">
                <a:latin typeface="Verdana" panose="020B0604030504040204" pitchFamily="34" charset="0"/>
                <a:ea typeface="Verdana" panose="020B0604030504040204" pitchFamily="34" charset="0"/>
              </a:rPr>
              <a:t>CPU</a:t>
            </a:r>
            <a:r>
              <a:rPr lang="es-ES" dirty="0" smtClean="0">
                <a:latin typeface="Verdana" panose="020B0604030504040204" pitchFamily="34" charset="0"/>
                <a:ea typeface="Verdana" panose="020B0604030504040204" pitchFamily="34" charset="0"/>
              </a:rPr>
              <a:t>).</a:t>
            </a:r>
          </a:p>
          <a:p>
            <a:pPr algn="l"/>
            <a:endParaRPr lang="es-E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/>
            <a:r>
              <a:rPr lang="es-ES" b="1" dirty="0">
                <a:latin typeface="Verdana" panose="020B0604030504040204" pitchFamily="34" charset="0"/>
                <a:ea typeface="Verdana" panose="020B0604030504040204" pitchFamily="34" charset="0"/>
              </a:rPr>
              <a:t>Modularidad:</a:t>
            </a:r>
            <a:r>
              <a:rPr lang="es-ES" dirty="0">
                <a:latin typeface="Verdana" panose="020B0604030504040204" pitchFamily="34" charset="0"/>
                <a:ea typeface="Verdana" panose="020B0604030504040204" pitchFamily="34" charset="0"/>
              </a:rPr>
              <a:t> Permite instalar únicamente los </a:t>
            </a:r>
            <a:endParaRPr lang="es-ES" dirty="0" smtClean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/>
            <a:r>
              <a:rPr lang="es-ES" dirty="0" smtClean="0">
                <a:latin typeface="Verdana" panose="020B0604030504040204" pitchFamily="34" charset="0"/>
                <a:ea typeface="Verdana" panose="020B0604030504040204" pitchFamily="34" charset="0"/>
              </a:rPr>
              <a:t>componentes </a:t>
            </a:r>
            <a:r>
              <a:rPr lang="es-ES" dirty="0">
                <a:latin typeface="Verdana" panose="020B0604030504040204" pitchFamily="34" charset="0"/>
                <a:ea typeface="Verdana" panose="020B0604030504040204" pitchFamily="34" charset="0"/>
              </a:rPr>
              <a:t>necesarios para una tarea específica</a:t>
            </a:r>
            <a:r>
              <a:rPr lang="es-ES" dirty="0" smtClean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pPr algn="l"/>
            <a:endParaRPr lang="es-E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/>
            <a:r>
              <a:rPr lang="es-ES" b="1" dirty="0">
                <a:latin typeface="Verdana" panose="020B0604030504040204" pitchFamily="34" charset="0"/>
                <a:ea typeface="Verdana" panose="020B0604030504040204" pitchFamily="34" charset="0"/>
              </a:rPr>
              <a:t>Código Abierto:</a:t>
            </a:r>
            <a:r>
              <a:rPr lang="es-ES" dirty="0">
                <a:latin typeface="Verdana" panose="020B0604030504040204" pitchFamily="34" charset="0"/>
                <a:ea typeface="Verdana" panose="020B0604030504040204" pitchFamily="34" charset="0"/>
              </a:rPr>
              <a:t> Su transparencia permite auditorías </a:t>
            </a:r>
            <a:endParaRPr lang="es-ES" dirty="0" smtClean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/>
            <a:r>
              <a:rPr lang="es-ES" dirty="0" smtClean="0">
                <a:latin typeface="Verdana" panose="020B0604030504040204" pitchFamily="34" charset="0"/>
                <a:ea typeface="Verdana" panose="020B0604030504040204" pitchFamily="34" charset="0"/>
              </a:rPr>
              <a:t>constantes </a:t>
            </a:r>
            <a:r>
              <a:rPr lang="es-ES" dirty="0">
                <a:latin typeface="Verdana" panose="020B0604030504040204" pitchFamily="34" charset="0"/>
                <a:ea typeface="Verdana" panose="020B0604030504040204" pitchFamily="34" charset="0"/>
              </a:rPr>
              <a:t>y personalización profunda.</a:t>
            </a:r>
          </a:p>
          <a:p>
            <a:endParaRPr lang="es-DO" dirty="0"/>
          </a:p>
        </p:txBody>
      </p:sp>
    </p:spTree>
    <p:extLst>
      <p:ext uri="{BB962C8B-B14F-4D97-AF65-F5344CB8AC3E}">
        <p14:creationId xmlns:p14="http://schemas.microsoft.com/office/powerpoint/2010/main" val="2873177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62940" y="594360"/>
            <a:ext cx="10904220" cy="5897880"/>
          </a:xfrm>
        </p:spPr>
        <p:txBody>
          <a:bodyPr>
            <a:normAutofit lnSpcReduction="10000"/>
          </a:bodyPr>
          <a:lstStyle/>
          <a:p>
            <a:r>
              <a:rPr lang="es-ES" sz="2800" b="1" dirty="0">
                <a:latin typeface="Verdana" panose="020B0604030504040204" pitchFamily="34" charset="0"/>
                <a:ea typeface="Verdana" panose="020B0604030504040204" pitchFamily="34" charset="0"/>
              </a:rPr>
              <a:t>Distribuciones (</a:t>
            </a:r>
            <a:r>
              <a:rPr lang="es-ES" sz="2800" b="1" dirty="0" err="1">
                <a:latin typeface="Verdana" panose="020B0604030504040204" pitchFamily="34" charset="0"/>
                <a:ea typeface="Verdana" panose="020B0604030504040204" pitchFamily="34" charset="0"/>
              </a:rPr>
              <a:t>Distros</a:t>
            </a:r>
            <a:r>
              <a:rPr lang="es-ES" sz="2800" b="1" dirty="0">
                <a:latin typeface="Verdana" panose="020B0604030504040204" pitchFamily="34" charset="0"/>
                <a:ea typeface="Verdana" panose="020B0604030504040204" pitchFamily="34" charset="0"/>
              </a:rPr>
              <a:t>) </a:t>
            </a:r>
            <a:r>
              <a:rPr lang="es-ES" sz="28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Destacadas</a:t>
            </a:r>
          </a:p>
          <a:p>
            <a:endParaRPr lang="es-ES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/>
            <a:r>
              <a:rPr lang="es-ES" b="1" dirty="0">
                <a:latin typeface="Verdana" panose="020B0604030504040204" pitchFamily="34" charset="0"/>
                <a:ea typeface="Verdana" panose="020B0604030504040204" pitchFamily="34" charset="0"/>
              </a:rPr>
              <a:t>Ubuntu Server:</a:t>
            </a:r>
            <a:r>
              <a:rPr lang="es-ES" dirty="0">
                <a:latin typeface="Verdana" panose="020B0604030504040204" pitchFamily="34" charset="0"/>
                <a:ea typeface="Verdana" panose="020B0604030504040204" pitchFamily="34" charset="0"/>
              </a:rPr>
              <a:t> Popular por su facilidad de uso y </a:t>
            </a:r>
            <a:r>
              <a:rPr lang="es-ES" dirty="0" smtClean="0">
                <a:latin typeface="Verdana" panose="020B0604030504040204" pitchFamily="34" charset="0"/>
                <a:ea typeface="Verdana" panose="020B0604030504040204" pitchFamily="34" charset="0"/>
              </a:rPr>
              <a:t>amplia </a:t>
            </a:r>
          </a:p>
          <a:p>
            <a:pPr algn="l"/>
            <a:r>
              <a:rPr lang="es-ES" dirty="0" smtClean="0">
                <a:latin typeface="Verdana" panose="020B0604030504040204" pitchFamily="34" charset="0"/>
                <a:ea typeface="Verdana" panose="020B0604030504040204" pitchFamily="34" charset="0"/>
              </a:rPr>
              <a:t>documentación.</a:t>
            </a:r>
          </a:p>
          <a:p>
            <a:pPr algn="l"/>
            <a:endParaRPr lang="es-ES" b="1" dirty="0" smtClean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/>
            <a:r>
              <a:rPr lang="es-ES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Red </a:t>
            </a:r>
            <a:r>
              <a:rPr lang="es-ES" b="1" dirty="0" err="1">
                <a:latin typeface="Verdana" panose="020B0604030504040204" pitchFamily="34" charset="0"/>
                <a:ea typeface="Verdana" panose="020B0604030504040204" pitchFamily="34" charset="0"/>
              </a:rPr>
              <a:t>Hat</a:t>
            </a:r>
            <a:r>
              <a:rPr lang="es-ES" b="1" dirty="0">
                <a:latin typeface="Verdana" panose="020B0604030504040204" pitchFamily="34" charset="0"/>
                <a:ea typeface="Verdana" panose="020B0604030504040204" pitchFamily="34" charset="0"/>
              </a:rPr>
              <a:t> Enterprise Linux (RHEL):</a:t>
            </a:r>
            <a:r>
              <a:rPr lang="es-ES" dirty="0">
                <a:latin typeface="Verdana" panose="020B0604030504040204" pitchFamily="34" charset="0"/>
                <a:ea typeface="Verdana" panose="020B0604030504040204" pitchFamily="34" charset="0"/>
              </a:rPr>
              <a:t> El estándar para </a:t>
            </a:r>
            <a:r>
              <a:rPr lang="es-ES" dirty="0" smtClean="0">
                <a:latin typeface="Verdana" panose="020B0604030504040204" pitchFamily="34" charset="0"/>
                <a:ea typeface="Verdana" panose="020B0604030504040204" pitchFamily="34" charset="0"/>
              </a:rPr>
              <a:t>grandes </a:t>
            </a:r>
          </a:p>
          <a:p>
            <a:pPr algn="l"/>
            <a:r>
              <a:rPr lang="es-ES" dirty="0" smtClean="0">
                <a:latin typeface="Verdana" panose="020B0604030504040204" pitchFamily="34" charset="0"/>
                <a:ea typeface="Verdana" panose="020B0604030504040204" pitchFamily="34" charset="0"/>
              </a:rPr>
              <a:t>empresas </a:t>
            </a:r>
            <a:r>
              <a:rPr lang="es-ES" dirty="0">
                <a:latin typeface="Verdana" panose="020B0604030504040204" pitchFamily="34" charset="0"/>
                <a:ea typeface="Verdana" panose="020B0604030504040204" pitchFamily="34" charset="0"/>
              </a:rPr>
              <a:t>que requieren soporte técnico oficial.</a:t>
            </a:r>
          </a:p>
          <a:p>
            <a:pPr algn="l"/>
            <a:endParaRPr lang="es-ES" b="1" dirty="0" smtClean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/>
            <a:r>
              <a:rPr lang="es-ES" b="1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Debian</a:t>
            </a:r>
            <a:r>
              <a:rPr lang="es-ES" b="1" dirty="0"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r>
              <a:rPr lang="es-ES" dirty="0">
                <a:latin typeface="Verdana" panose="020B0604030504040204" pitchFamily="34" charset="0"/>
                <a:ea typeface="Verdana" panose="020B0604030504040204" pitchFamily="34" charset="0"/>
              </a:rPr>
              <a:t> Valorada por su extrema robustez y estabilidad </a:t>
            </a:r>
            <a:r>
              <a:rPr lang="es-ES" dirty="0" smtClean="0">
                <a:latin typeface="Verdana" panose="020B0604030504040204" pitchFamily="34" charset="0"/>
                <a:ea typeface="Verdana" panose="020B0604030504040204" pitchFamily="34" charset="0"/>
              </a:rPr>
              <a:t>en </a:t>
            </a:r>
          </a:p>
          <a:p>
            <a:pPr algn="l"/>
            <a:r>
              <a:rPr lang="es-ES" dirty="0" smtClean="0">
                <a:latin typeface="Verdana" panose="020B0604030504040204" pitchFamily="34" charset="0"/>
                <a:ea typeface="Verdana" panose="020B0604030504040204" pitchFamily="34" charset="0"/>
              </a:rPr>
              <a:t>servidores </a:t>
            </a:r>
            <a:r>
              <a:rPr lang="es-ES" dirty="0">
                <a:latin typeface="Verdana" panose="020B0604030504040204" pitchFamily="34" charset="0"/>
                <a:ea typeface="Verdana" panose="020B0604030504040204" pitchFamily="34" charset="0"/>
              </a:rPr>
              <a:t>de misión crítica.</a:t>
            </a:r>
          </a:p>
          <a:p>
            <a:pPr algn="l"/>
            <a:endParaRPr lang="es-ES" b="1" dirty="0" smtClean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/>
            <a:r>
              <a:rPr lang="es-ES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Rocky </a:t>
            </a:r>
            <a:r>
              <a:rPr lang="es-ES" b="1" dirty="0">
                <a:latin typeface="Verdana" panose="020B0604030504040204" pitchFamily="34" charset="0"/>
                <a:ea typeface="Verdana" panose="020B0604030504040204" pitchFamily="34" charset="0"/>
              </a:rPr>
              <a:t>Linux:</a:t>
            </a:r>
            <a:r>
              <a:rPr lang="es-ES" dirty="0">
                <a:latin typeface="Verdana" panose="020B0604030504040204" pitchFamily="34" charset="0"/>
                <a:ea typeface="Verdana" panose="020B0604030504040204" pitchFamily="34" charset="0"/>
              </a:rPr>
              <a:t> Una alternativa gratuita compatible con </a:t>
            </a:r>
            <a:r>
              <a:rPr lang="es-ES" dirty="0" smtClean="0">
                <a:latin typeface="Verdana" panose="020B0604030504040204" pitchFamily="34" charset="0"/>
                <a:ea typeface="Verdana" panose="020B0604030504040204" pitchFamily="34" charset="0"/>
              </a:rPr>
              <a:t>entornos </a:t>
            </a:r>
          </a:p>
          <a:p>
            <a:pPr algn="l"/>
            <a:r>
              <a:rPr lang="es-ES" dirty="0" smtClean="0">
                <a:latin typeface="Verdana" panose="020B0604030504040204" pitchFamily="34" charset="0"/>
                <a:ea typeface="Verdana" panose="020B0604030504040204" pitchFamily="34" charset="0"/>
              </a:rPr>
              <a:t>empresariales</a:t>
            </a:r>
            <a:r>
              <a:rPr lang="es-ES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endParaRPr lang="es-DO" dirty="0"/>
          </a:p>
        </p:txBody>
      </p:sp>
    </p:spTree>
    <p:extLst>
      <p:ext uri="{BB962C8B-B14F-4D97-AF65-F5344CB8AC3E}">
        <p14:creationId xmlns:p14="http://schemas.microsoft.com/office/powerpoint/2010/main" val="26830328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800100" y="1075155"/>
            <a:ext cx="10446036" cy="5232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DO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Seguridad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DO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DO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DO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Linux es el sistema de referencia en seguridad debido a: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DO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DO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Sistema de Permisos:</a:t>
            </a:r>
            <a:r>
              <a:rPr kumimoji="0" lang="es-DO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Control estricto sobre quién puede leer, escribir o ejecutar archivos.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DO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DO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Privilegios Escalonados:</a:t>
            </a:r>
            <a:r>
              <a:rPr kumimoji="0" lang="es-DO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El uso de comandos como sudo evita que errores de usuario comprometan la raíz del sistema.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DO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DO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Actualizaciones Rápidas:</a:t>
            </a:r>
            <a:r>
              <a:rPr kumimoji="0" lang="es-DO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La comunidad detecta y parchea vulnerabilidades en cuestión de horas.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DO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98773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1074420" y="1724085"/>
            <a:ext cx="987552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800" b="1" dirty="0">
                <a:latin typeface="Verdana" panose="020B0604030504040204" pitchFamily="34" charset="0"/>
                <a:ea typeface="Verdana" panose="020B0604030504040204" pitchFamily="34" charset="0"/>
              </a:rPr>
              <a:t>Impacto en la </a:t>
            </a:r>
            <a:r>
              <a:rPr lang="es-ES" sz="28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Industria</a:t>
            </a:r>
          </a:p>
          <a:p>
            <a:pPr algn="ctr"/>
            <a:endParaRPr lang="es-ES" sz="2400" b="1" dirty="0" smtClean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es-ES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s-ES" sz="2400" dirty="0">
                <a:latin typeface="Verdana" panose="020B0604030504040204" pitchFamily="34" charset="0"/>
                <a:ea typeface="Verdana" panose="020B0604030504040204" pitchFamily="34" charset="0"/>
              </a:rPr>
              <a:t>La industria tecnológica actual depende casi totalmente de Linux. Más del </a:t>
            </a:r>
            <a: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  <a:t>90% de los servicios en la nube</a:t>
            </a:r>
            <a:r>
              <a:rPr lang="es-ES" sz="2400" dirty="0">
                <a:latin typeface="Verdana" panose="020B0604030504040204" pitchFamily="34" charset="0"/>
                <a:ea typeface="Verdana" panose="020B0604030504040204" pitchFamily="34" charset="0"/>
              </a:rPr>
              <a:t> (como AWS o Google Cloud) y el </a:t>
            </a:r>
            <a: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  <a:t>100% de las supercomputadoras</a:t>
            </a:r>
            <a:r>
              <a:rPr lang="es-ES" sz="2400" dirty="0">
                <a:latin typeface="Verdana" panose="020B0604030504040204" pitchFamily="34" charset="0"/>
                <a:ea typeface="Verdana" panose="020B0604030504040204" pitchFamily="34" charset="0"/>
              </a:rPr>
              <a:t> más potentes del mundo funcionan bajo este núcleo, permitiendo la escalabilidad global de internet.</a:t>
            </a:r>
          </a:p>
        </p:txBody>
      </p:sp>
    </p:spTree>
    <p:extLst>
      <p:ext uri="{BB962C8B-B14F-4D97-AF65-F5344CB8AC3E}">
        <p14:creationId xmlns:p14="http://schemas.microsoft.com/office/powerpoint/2010/main" val="9598969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982980" y="1577340"/>
            <a:ext cx="9959340" cy="3931920"/>
          </a:xfrm>
        </p:spPr>
        <p:txBody>
          <a:bodyPr>
            <a:normAutofit/>
          </a:bodyPr>
          <a:lstStyle/>
          <a:p>
            <a:r>
              <a:rPr lang="es-ES" sz="2800" b="1" dirty="0">
                <a:latin typeface="Verdana" panose="020B0604030504040204" pitchFamily="34" charset="0"/>
                <a:ea typeface="Verdana" panose="020B0604030504040204" pitchFamily="34" charset="0"/>
              </a:rPr>
              <a:t>Impacto en la </a:t>
            </a:r>
            <a:r>
              <a:rPr lang="es-ES" sz="2800" b="1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Ciberseguridad</a:t>
            </a:r>
            <a:endParaRPr lang="es-ES" sz="2800" b="1" dirty="0" smtClean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es-ES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es-ES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/>
            <a:r>
              <a:rPr lang="es-ES" dirty="0" smtClean="0">
                <a:latin typeface="Verdana" panose="020B0604030504040204" pitchFamily="34" charset="0"/>
                <a:ea typeface="Verdana" panose="020B0604030504040204" pitchFamily="34" charset="0"/>
              </a:rPr>
              <a:t>    Linux </a:t>
            </a:r>
            <a:r>
              <a:rPr lang="es-ES" dirty="0">
                <a:latin typeface="Verdana" panose="020B0604030504040204" pitchFamily="34" charset="0"/>
                <a:ea typeface="Verdana" panose="020B0604030504040204" pitchFamily="34" charset="0"/>
              </a:rPr>
              <a:t>es la herramienta principal para los expertos en seguridad. La mayoría de los firewalls, sistemas de detección de intrusos y herramientas de análisis forense están construidos sobre Linux, debido a la visibilidad total que ofrece sobre los procesos del sistema.</a:t>
            </a:r>
          </a:p>
          <a:p>
            <a:endParaRPr lang="es-DO" dirty="0"/>
          </a:p>
        </p:txBody>
      </p:sp>
    </p:spTree>
    <p:extLst>
      <p:ext uri="{BB962C8B-B14F-4D97-AF65-F5344CB8AC3E}">
        <p14:creationId xmlns:p14="http://schemas.microsoft.com/office/powerpoint/2010/main" val="3997459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249680" y="1303020"/>
            <a:ext cx="9144000" cy="5189220"/>
          </a:xfrm>
        </p:spPr>
        <p:txBody>
          <a:bodyPr>
            <a:normAutofit/>
          </a:bodyPr>
          <a:lstStyle/>
          <a:p>
            <a:r>
              <a:rPr lang="es-ES" sz="32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Conclusión</a:t>
            </a:r>
          </a:p>
          <a:p>
            <a:endParaRPr lang="es-ES" sz="38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/>
            <a:r>
              <a:rPr lang="es-ES" dirty="0" smtClean="0">
                <a:latin typeface="Verdana" panose="020B0604030504040204" pitchFamily="34" charset="0"/>
                <a:ea typeface="Verdana" panose="020B0604030504040204" pitchFamily="34" charset="0"/>
              </a:rPr>
              <a:t>    Linux </a:t>
            </a:r>
            <a:r>
              <a:rPr lang="es-ES" dirty="0">
                <a:latin typeface="Verdana" panose="020B0604030504040204" pitchFamily="34" charset="0"/>
                <a:ea typeface="Verdana" panose="020B0604030504040204" pitchFamily="34" charset="0"/>
              </a:rPr>
              <a:t>Server no es solo un sistema operativo, es el cimiento sobre el cual se construye la red global. Su combinación de </a:t>
            </a:r>
            <a:r>
              <a:rPr lang="es-ES" b="1" dirty="0">
                <a:latin typeface="Verdana" panose="020B0604030504040204" pitchFamily="34" charset="0"/>
                <a:ea typeface="Verdana" panose="020B0604030504040204" pitchFamily="34" charset="0"/>
              </a:rPr>
              <a:t>estabilidad, bajo costo y seguridad</a:t>
            </a:r>
            <a:r>
              <a:rPr lang="es-ES" dirty="0">
                <a:latin typeface="Verdana" panose="020B0604030504040204" pitchFamily="34" charset="0"/>
                <a:ea typeface="Verdana" panose="020B0604030504040204" pitchFamily="34" charset="0"/>
              </a:rPr>
              <a:t> lo convierte en la opción indiscutible para cualquier empresa que busque eficiencia. Comprender Linux es, hoy en día, esencial para cualquier profesional de la informática.</a:t>
            </a:r>
          </a:p>
          <a:p>
            <a:endParaRPr lang="es-DO" dirty="0"/>
          </a:p>
        </p:txBody>
      </p:sp>
    </p:spTree>
    <p:extLst>
      <p:ext uri="{BB962C8B-B14F-4D97-AF65-F5344CB8AC3E}">
        <p14:creationId xmlns:p14="http://schemas.microsoft.com/office/powerpoint/2010/main" val="21823574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body" idx="1"/>
          </p:nvPr>
        </p:nvSpPr>
        <p:spPr>
          <a:xfrm>
            <a:off x="571500" y="594360"/>
            <a:ext cx="11132820" cy="5582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114300" indent="0" algn="ctr">
              <a:buNone/>
            </a:pPr>
            <a:r>
              <a:rPr lang="es-DO" sz="3500" b="1" dirty="0">
                <a:latin typeface="Verdana" panose="020B0604030504040204" pitchFamily="34" charset="0"/>
                <a:ea typeface="Verdana" panose="020B0604030504040204" pitchFamily="34" charset="0"/>
              </a:rPr>
              <a:t>Fuentes </a:t>
            </a:r>
            <a:r>
              <a:rPr lang="es-DO" sz="35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Bibliográficas</a:t>
            </a:r>
            <a:endParaRPr lang="es-DO" sz="35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es-DO" sz="2400" b="1" dirty="0" smtClean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114300" indent="0">
              <a:buNone/>
            </a:pPr>
            <a:endParaRPr lang="es-DO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s-DO" sz="2600" i="1" dirty="0" err="1">
                <a:latin typeface="Verdana" panose="020B0604030504040204" pitchFamily="34" charset="0"/>
                <a:ea typeface="Verdana" panose="020B0604030504040204" pitchFamily="34" charset="0"/>
              </a:rPr>
              <a:t>Shotts</a:t>
            </a:r>
            <a:r>
              <a:rPr lang="es-DO" sz="2600" i="1" dirty="0">
                <a:latin typeface="Verdana" panose="020B0604030504040204" pitchFamily="34" charset="0"/>
                <a:ea typeface="Verdana" panose="020B0604030504040204" pitchFamily="34" charset="0"/>
              </a:rPr>
              <a:t>, W. (2019). </a:t>
            </a:r>
            <a:r>
              <a:rPr lang="es-DO" sz="2600" i="1" dirty="0" err="1">
                <a:latin typeface="Verdana" panose="020B0604030504040204" pitchFamily="34" charset="0"/>
                <a:ea typeface="Verdana" panose="020B0604030504040204" pitchFamily="34" charset="0"/>
              </a:rPr>
              <a:t>The</a:t>
            </a:r>
            <a:r>
              <a:rPr lang="es-DO" sz="2600" i="1" dirty="0">
                <a:latin typeface="Verdana" panose="020B0604030504040204" pitchFamily="34" charset="0"/>
                <a:ea typeface="Verdana" panose="020B0604030504040204" pitchFamily="34" charset="0"/>
              </a:rPr>
              <a:t> Linux </a:t>
            </a:r>
            <a:r>
              <a:rPr lang="es-DO" sz="2600" i="1" dirty="0" err="1">
                <a:latin typeface="Verdana" panose="020B0604030504040204" pitchFamily="34" charset="0"/>
                <a:ea typeface="Verdana" panose="020B0604030504040204" pitchFamily="34" charset="0"/>
              </a:rPr>
              <a:t>Command</a:t>
            </a:r>
            <a:r>
              <a:rPr lang="es-DO" sz="2600" i="1" dirty="0">
                <a:latin typeface="Verdana" panose="020B0604030504040204" pitchFamily="34" charset="0"/>
                <a:ea typeface="Verdana" panose="020B0604030504040204" pitchFamily="34" charset="0"/>
              </a:rPr>
              <a:t> Line: A Complete </a:t>
            </a:r>
            <a:r>
              <a:rPr lang="es-DO" sz="2600" i="1" dirty="0" err="1">
                <a:latin typeface="Verdana" panose="020B0604030504040204" pitchFamily="34" charset="0"/>
                <a:ea typeface="Verdana" panose="020B0604030504040204" pitchFamily="34" charset="0"/>
              </a:rPr>
              <a:t>Introduction</a:t>
            </a:r>
            <a:r>
              <a:rPr lang="es-DO" sz="2600" i="1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r>
              <a:rPr lang="es-DO" sz="2600" dirty="0">
                <a:latin typeface="Verdana" panose="020B0604030504040204" pitchFamily="34" charset="0"/>
                <a:ea typeface="Verdana" panose="020B0604030504040204" pitchFamily="34" charset="0"/>
              </a:rPr>
              <a:t> No </a:t>
            </a:r>
            <a:r>
              <a:rPr lang="es-DO" sz="2600" dirty="0" err="1">
                <a:latin typeface="Verdana" panose="020B0604030504040204" pitchFamily="34" charset="0"/>
                <a:ea typeface="Verdana" panose="020B0604030504040204" pitchFamily="34" charset="0"/>
              </a:rPr>
              <a:t>Starch</a:t>
            </a:r>
            <a:r>
              <a:rPr lang="es-DO" sz="26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s-DO" sz="2600" dirty="0" err="1">
                <a:latin typeface="Verdana" panose="020B0604030504040204" pitchFamily="34" charset="0"/>
                <a:ea typeface="Verdana" panose="020B0604030504040204" pitchFamily="34" charset="0"/>
              </a:rPr>
              <a:t>Press</a:t>
            </a:r>
            <a:r>
              <a:rPr lang="es-DO" sz="2600" dirty="0" smtClean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endParaRPr lang="es-DO" sz="2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s-DO" sz="2600" i="1" dirty="0" err="1">
                <a:latin typeface="Verdana" panose="020B0604030504040204" pitchFamily="34" charset="0"/>
                <a:ea typeface="Verdana" panose="020B0604030504040204" pitchFamily="34" charset="0"/>
              </a:rPr>
              <a:t>Nemeth</a:t>
            </a:r>
            <a:r>
              <a:rPr lang="es-DO" sz="2600" i="1" dirty="0">
                <a:latin typeface="Verdana" panose="020B0604030504040204" pitchFamily="34" charset="0"/>
                <a:ea typeface="Verdana" panose="020B0604030504040204" pitchFamily="34" charset="0"/>
              </a:rPr>
              <a:t>, E., et al. (2017). UNIX and Linux </a:t>
            </a:r>
            <a:r>
              <a:rPr lang="es-DO" sz="2600" i="1" dirty="0" err="1">
                <a:latin typeface="Verdana" panose="020B0604030504040204" pitchFamily="34" charset="0"/>
                <a:ea typeface="Verdana" panose="020B0604030504040204" pitchFamily="34" charset="0"/>
              </a:rPr>
              <a:t>System</a:t>
            </a:r>
            <a:r>
              <a:rPr lang="es-DO" sz="260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s-DO" sz="2600" i="1" dirty="0" err="1">
                <a:latin typeface="Verdana" panose="020B0604030504040204" pitchFamily="34" charset="0"/>
                <a:ea typeface="Verdana" panose="020B0604030504040204" pitchFamily="34" charset="0"/>
              </a:rPr>
              <a:t>Administration</a:t>
            </a:r>
            <a:r>
              <a:rPr lang="es-DO" sz="260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s-DO" sz="2600" i="1" dirty="0" err="1">
                <a:latin typeface="Verdana" panose="020B0604030504040204" pitchFamily="34" charset="0"/>
                <a:ea typeface="Verdana" panose="020B0604030504040204" pitchFamily="34" charset="0"/>
              </a:rPr>
              <a:t>Handbook</a:t>
            </a:r>
            <a:r>
              <a:rPr lang="es-DO" sz="2600" i="1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r>
              <a:rPr lang="es-DO" sz="2600" dirty="0">
                <a:latin typeface="Verdana" panose="020B0604030504040204" pitchFamily="34" charset="0"/>
                <a:ea typeface="Verdana" panose="020B0604030504040204" pitchFamily="34" charset="0"/>
              </a:rPr>
              <a:t> Addison-Wesley</a:t>
            </a:r>
            <a:r>
              <a:rPr lang="es-DO" sz="2600" dirty="0" smtClean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endParaRPr lang="es-DO" sz="2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s-DO" sz="2600" i="1" dirty="0" err="1">
                <a:latin typeface="Verdana" panose="020B0604030504040204" pitchFamily="34" charset="0"/>
                <a:ea typeface="Verdana" panose="020B0604030504040204" pitchFamily="34" charset="0"/>
              </a:rPr>
              <a:t>The</a:t>
            </a:r>
            <a:r>
              <a:rPr lang="es-DO" sz="2600" i="1" dirty="0">
                <a:latin typeface="Verdana" panose="020B0604030504040204" pitchFamily="34" charset="0"/>
                <a:ea typeface="Verdana" panose="020B0604030504040204" pitchFamily="34" charset="0"/>
              </a:rPr>
              <a:t> Linux </a:t>
            </a:r>
            <a:r>
              <a:rPr lang="es-DO" sz="2600" i="1" dirty="0" err="1">
                <a:latin typeface="Verdana" panose="020B0604030504040204" pitchFamily="34" charset="0"/>
                <a:ea typeface="Verdana" panose="020B0604030504040204" pitchFamily="34" charset="0"/>
              </a:rPr>
              <a:t>Foundation</a:t>
            </a:r>
            <a:r>
              <a:rPr lang="es-DO" sz="2600" i="1" dirty="0">
                <a:latin typeface="Verdana" panose="020B0604030504040204" pitchFamily="34" charset="0"/>
                <a:ea typeface="Verdana" panose="020B0604030504040204" pitchFamily="34" charset="0"/>
              </a:rPr>
              <a:t>. (2024). Linux Server Training and </a:t>
            </a:r>
            <a:r>
              <a:rPr lang="es-DO" sz="2600" i="1" dirty="0" err="1">
                <a:latin typeface="Verdana" panose="020B0604030504040204" pitchFamily="34" charset="0"/>
                <a:ea typeface="Verdana" panose="020B0604030504040204" pitchFamily="34" charset="0"/>
              </a:rPr>
              <a:t>Certification</a:t>
            </a:r>
            <a:r>
              <a:rPr lang="es-DO" sz="260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s-DO" sz="2600" i="1" dirty="0" err="1">
                <a:latin typeface="Verdana" panose="020B0604030504040204" pitchFamily="34" charset="0"/>
                <a:ea typeface="Verdana" panose="020B0604030504040204" pitchFamily="34" charset="0"/>
              </a:rPr>
              <a:t>Resources</a:t>
            </a:r>
            <a:r>
              <a:rPr lang="es-DO" sz="2600" i="1" dirty="0" smtClean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endParaRPr lang="es-DO" sz="2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s-DO" sz="2600" i="1" dirty="0">
                <a:latin typeface="Verdana" panose="020B0604030504040204" pitchFamily="34" charset="0"/>
                <a:ea typeface="Verdana" panose="020B0604030504040204" pitchFamily="34" charset="0"/>
              </a:rPr>
              <a:t>Canonical Ltd. (2024). Ubuntu Server </a:t>
            </a:r>
            <a:r>
              <a:rPr lang="es-DO" sz="2600" i="1" dirty="0" err="1">
                <a:latin typeface="Verdana" panose="020B0604030504040204" pitchFamily="34" charset="0"/>
                <a:ea typeface="Verdana" panose="020B0604030504040204" pitchFamily="34" charset="0"/>
              </a:rPr>
              <a:t>Documentation</a:t>
            </a:r>
            <a:r>
              <a:rPr lang="es-DO" sz="2600" i="1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es-DO" sz="2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599</Words>
  <Application>Microsoft Office PowerPoint</Application>
  <PresentationFormat>Panorámica</PresentationFormat>
  <Paragraphs>71</Paragraphs>
  <Slides>10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Verdana</vt:lpstr>
      <vt:lpstr>Tema de Office</vt:lpstr>
      <vt:lpstr>Presentación de PowerPoint</vt:lpstr>
      <vt:lpstr>Introducción</vt:lpstr>
      <vt:lpstr>Desarrollo de Temas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Luis Reyes</dc:creator>
  <cp:lastModifiedBy>Cuenta Microsoft</cp:lastModifiedBy>
  <cp:revision>4</cp:revision>
  <dcterms:created xsi:type="dcterms:W3CDTF">2026-03-31T00:35:05Z</dcterms:created>
  <dcterms:modified xsi:type="dcterms:W3CDTF">2026-04-28T22:14:46Z</dcterms:modified>
</cp:coreProperties>
</file>