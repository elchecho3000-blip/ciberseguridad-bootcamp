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03C10-CFD1-44D2-AC36-560BCF74D975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B0113-1FD1-4E20-A421-84808E5AB56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612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49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2550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3322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7967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7840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429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861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58804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559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2400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601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722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EA09D-AF5B-4777-AB06-38DFD1324449}" type="datetimeFigureOut">
              <a:rPr lang="es-DO" smtClean="0"/>
              <a:t>30/6/2026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771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Seguridad%20F%C3%ADsic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93518" y="2212737"/>
            <a:ext cx="12004964" cy="464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</a:p>
          <a:p>
            <a:pPr marL="0" indent="0" algn="l"/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Seguridad Física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Actividad: </a:t>
            </a:r>
            <a:r>
              <a:rPr lang="es-MX" dirty="0"/>
              <a:t> 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Identificación de Brechas de Seguridad en Centros de Datos</a:t>
            </a:r>
          </a:p>
          <a:p>
            <a:pPr algn="l">
              <a:buClr>
                <a:schemeClr val="dk1"/>
              </a:buClr>
              <a:buSzPts val="2400"/>
            </a:pPr>
            <a:r>
              <a:rPr lang="es-DO" b="1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Descripción: 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Identificamos las vulnerabilidades que pueden presentar los Centros de Datos a causa de ignorancia o falta de inversión económica en un posible </a:t>
            </a:r>
            <a:r>
              <a:rPr lang="es-MX" dirty="0" err="1">
                <a:latin typeface="Verdana" panose="020B0604030504040204" pitchFamily="34" charset="0"/>
                <a:ea typeface="Verdana" panose="020B0604030504040204" pitchFamily="34" charset="0"/>
              </a:rPr>
              <a:t>DataCenter</a:t>
            </a:r>
            <a:r>
              <a:rPr lang="es-MX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GitHub: 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https://github.com/elchecho3000-blip/Ciberseguridad-bootcamp/tree/main/Seguridad%20F%C3%ADsica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490" y="324976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93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89088F-F6BF-3CA8-2FB9-A68A10B7B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300"/>
            <a:ext cx="10515600" cy="5743575"/>
          </a:xfrm>
        </p:spPr>
        <p:txBody>
          <a:bodyPr/>
          <a:lstStyle/>
          <a:p>
            <a:pPr algn="ctr"/>
            <a:r>
              <a:rPr lang="es-MX" b="1" dirty="0"/>
              <a:t>1. Controles de Identidad y Recursos Humanos (Filtro Inicial)</a:t>
            </a:r>
          </a:p>
          <a:p>
            <a:pPr marL="0" indent="0">
              <a:buNone/>
            </a:pPr>
            <a:endParaRPr lang="es-MX" b="1" dirty="0"/>
          </a:p>
          <a:p>
            <a:pPr marL="0" indent="0">
              <a:buNone/>
            </a:pPr>
            <a:r>
              <a:rPr lang="es-MX" dirty="0"/>
              <a:t>El atacante entró por la puerta delantera gracias a un proceso de contratación débil.</a:t>
            </a:r>
          </a:p>
          <a:p>
            <a:r>
              <a:rPr lang="es-MX" b="1" dirty="0"/>
              <a:t>Investigación de antecedentes (</a:t>
            </a:r>
            <a:r>
              <a:rPr lang="es-MX" b="1" dirty="0" err="1"/>
              <a:t>Background</a:t>
            </a:r>
            <a:r>
              <a:rPr lang="es-MX" b="1" dirty="0"/>
              <a:t> </a:t>
            </a:r>
            <a:r>
              <a:rPr lang="es-MX" b="1" dirty="0" err="1"/>
              <a:t>Check</a:t>
            </a:r>
            <a:r>
              <a:rPr lang="es-MX" b="1" dirty="0"/>
              <a:t>):</a:t>
            </a:r>
            <a:r>
              <a:rPr lang="es-MX" dirty="0"/>
              <a:t> Para cualquier puesto con acceso a áreas críticas (incluso personal temporal o de mantenimiento), es obligatorio un filtrado riguroso que verifique antecedentes penales, historial laboral y referencias.</a:t>
            </a:r>
          </a:p>
          <a:p>
            <a:r>
              <a:rPr lang="es-MX" b="1" dirty="0"/>
              <a:t>Política de "Privilegio Mínimo" para temporales:</a:t>
            </a:r>
            <a:r>
              <a:rPr lang="es-MX" dirty="0"/>
              <a:t> El personal de mantenimiento no debió tener acceso libre a los planos del edificio ni a las rutinas de seguridad de los guardias. Su acceso debe limitarse estrictamente al área y horario de su tarea específica.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59799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6F23CC-8182-3BAC-13A0-88D355CDC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1" y="257175"/>
            <a:ext cx="11820524" cy="6600825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2. Seguridad Física y Control de Accesos</a:t>
            </a:r>
          </a:p>
          <a:p>
            <a:pPr algn="ctr"/>
            <a:endParaRPr lang="es-MX" b="1" dirty="0"/>
          </a:p>
          <a:p>
            <a:pPr marL="0" indent="0">
              <a:buNone/>
            </a:pPr>
            <a:r>
              <a:rPr lang="es-MX" dirty="0"/>
              <a:t>El uso compartido de tarjetas y la falta de supervisión facilitaron el movimiento del intruso.</a:t>
            </a:r>
          </a:p>
          <a:p>
            <a:r>
              <a:rPr lang="es-MX" b="1" dirty="0"/>
              <a:t>Autenticación </a:t>
            </a:r>
            <a:r>
              <a:rPr lang="es-MX" b="1" dirty="0" err="1"/>
              <a:t>Multifactor</a:t>
            </a:r>
            <a:r>
              <a:rPr lang="es-MX" b="1" dirty="0"/>
              <a:t> Física (MFA):</a:t>
            </a:r>
            <a:r>
              <a:rPr lang="es-MX" dirty="0"/>
              <a:t> Las tarjetas magnéticas clonadas o robadas no habrían servido si el acceso al cuarto de servidores requiriera además </a:t>
            </a:r>
            <a:r>
              <a:rPr lang="es-MX" b="1" dirty="0"/>
              <a:t>biometría</a:t>
            </a:r>
            <a:r>
              <a:rPr lang="es-MX" dirty="0"/>
              <a:t> (huella dactilar o reconocimiento facial) o un PIN dinámico.</a:t>
            </a:r>
          </a:p>
          <a:p>
            <a:r>
              <a:rPr lang="es-MX" b="1" dirty="0"/>
              <a:t>Prohibición estricta de "</a:t>
            </a:r>
            <a:r>
              <a:rPr lang="es-MX" b="1" dirty="0" err="1"/>
              <a:t>Tailgating</a:t>
            </a:r>
            <a:r>
              <a:rPr lang="es-MX" b="1" dirty="0"/>
              <a:t>" (Paso en cadena):</a:t>
            </a:r>
            <a:r>
              <a:rPr lang="es-MX" dirty="0"/>
              <a:t> Compartir o prestar tarjetas debe ser motivo de sanción grave. Se debieron instalar torniquetes de altura completa o esclusas de seguridad (</a:t>
            </a:r>
            <a:r>
              <a:rPr lang="es-MX" dirty="0" err="1"/>
              <a:t>mantrap</a:t>
            </a:r>
            <a:r>
              <a:rPr lang="es-MX" dirty="0"/>
              <a:t>) que solo permiten el paso de una persona a la vez tras validar su identidad.</a:t>
            </a:r>
          </a:p>
          <a:p>
            <a:r>
              <a:rPr lang="es-MX" b="1" dirty="0"/>
              <a:t>Control de bitácoras en tiempo real:</a:t>
            </a:r>
            <a:r>
              <a:rPr lang="es-MX" dirty="0"/>
              <a:t> El sistema debió generar una alerta automática si la tarjeta de un empleado registraba accesos en horarios inusuales (como un fin de semana) o en dos áreas distintas al mismo tiempo.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15308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EF34CD-BF5E-7220-B6B5-2C1775FC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062" y="419100"/>
            <a:ext cx="11953875" cy="6600825"/>
          </a:xfrm>
        </p:spPr>
        <p:txBody>
          <a:bodyPr>
            <a:normAutofit/>
          </a:bodyPr>
          <a:lstStyle/>
          <a:p>
            <a:pPr algn="ctr"/>
            <a:r>
              <a:rPr lang="es-MX" b="1" dirty="0"/>
              <a:t>3. Gestión y Monitoreo de Seguridad (CCTV y Guardias)</a:t>
            </a:r>
          </a:p>
          <a:p>
            <a:pPr marL="0" indent="0">
              <a:buNone/>
            </a:pPr>
            <a:endParaRPr lang="es-MX" b="1" dirty="0"/>
          </a:p>
          <a:p>
            <a:r>
              <a:rPr lang="es-MX" dirty="0"/>
              <a:t>Desactivar cámaras bajo el pretexto de "mantenimiento" sin un protocolo de autorización es una falla procedimental severa.</a:t>
            </a:r>
          </a:p>
          <a:p>
            <a:r>
              <a:rPr lang="es-MX" b="1" dirty="0"/>
              <a:t>Protocolo de "Dos Personas" (</a:t>
            </a:r>
            <a:r>
              <a:rPr lang="es-MX" b="1" dirty="0" err="1"/>
              <a:t>Two</a:t>
            </a:r>
            <a:r>
              <a:rPr lang="es-MX" b="1" dirty="0"/>
              <a:t>-Man Rule):</a:t>
            </a:r>
            <a:r>
              <a:rPr lang="es-MX" dirty="0"/>
              <a:t> Ningún operador o técnico debe poder apagar un sistema de seguridad por sí solo. El apagado de cámaras debió requerir la firma digital y presencia física del director de seguridad y un supervisor.</a:t>
            </a:r>
          </a:p>
          <a:p>
            <a:r>
              <a:rPr lang="es-MX" b="1" dirty="0"/>
              <a:t>Monitoreo espejo o redundante:</a:t>
            </a:r>
            <a:r>
              <a:rPr lang="es-MX" dirty="0"/>
              <a:t> Si las cámaras se apagan por mantenimiento, el personal de seguridad física debe desplegar </a:t>
            </a:r>
            <a:r>
              <a:rPr lang="es-MX" b="1" dirty="0"/>
              <a:t>guardias presenciales</a:t>
            </a:r>
            <a:r>
              <a:rPr lang="es-MX" dirty="0"/>
              <a:t> para custodiar activamente esa zona ciega mientras dure el procedimiento.</a:t>
            </a:r>
          </a:p>
          <a:p>
            <a:r>
              <a:rPr lang="es-MX" b="1" dirty="0"/>
              <a:t>Alertas por pérdida de señal:</a:t>
            </a:r>
            <a:r>
              <a:rPr lang="es-MX" dirty="0"/>
              <a:t> El sistema de videovigilancia debe emitir una alarma sonora de alta prioridad en el centro de control si una cámara crítica pierde conexión de forma inesperada.</a:t>
            </a:r>
          </a:p>
          <a:p>
            <a:pPr marL="0" indent="0" algn="ctr">
              <a:buNone/>
            </a:pP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40742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FA081-B349-AE24-5518-950E0A18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276226"/>
            <a:ext cx="11296650" cy="63579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MX" b="1" dirty="0"/>
              <a:t>4. Seguridad de los Datos e Infraestructura TI</a:t>
            </a:r>
          </a:p>
          <a:p>
            <a:pPr marL="0" indent="0">
              <a:buNone/>
            </a:pPr>
            <a:endParaRPr lang="es-MX" b="1" dirty="0"/>
          </a:p>
          <a:p>
            <a:pPr marL="0" indent="0">
              <a:buNone/>
            </a:pPr>
            <a:r>
              <a:rPr lang="es-MX" dirty="0"/>
              <a:t>Los atacantes se llevaron "servidores portátiles" con datos limpios y listos para leer.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Cifrado en Reposo (</a:t>
            </a:r>
            <a:r>
              <a:rPr lang="es-MX" b="1" dirty="0" err="1"/>
              <a:t>Encryption</a:t>
            </a:r>
            <a:r>
              <a:rPr lang="es-MX" b="1" dirty="0"/>
              <a:t> at </a:t>
            </a:r>
            <a:r>
              <a:rPr lang="es-MX" b="1" dirty="0" err="1"/>
              <a:t>Rest</a:t>
            </a:r>
            <a:r>
              <a:rPr lang="es-MX" b="1" dirty="0"/>
              <a:t>):</a:t>
            </a:r>
            <a:r>
              <a:rPr lang="es-MX" dirty="0"/>
              <a:t> Si los datos hubieran estado cifrados mediante hardware o software, los servidores robados habrían sido inútiles para los criminales. Al encenderlos en otro lugar, solo verían caracteres ilegibles sin la clave maestra.</a:t>
            </a:r>
          </a:p>
          <a:p>
            <a:r>
              <a:rPr lang="es-MX" b="1" dirty="0"/>
              <a:t>Bloqueo físico de hardware (</a:t>
            </a:r>
            <a:r>
              <a:rPr lang="es-MX" b="1" dirty="0" err="1"/>
              <a:t>Locks</a:t>
            </a:r>
            <a:r>
              <a:rPr lang="es-MX" b="1" dirty="0"/>
              <a:t> &amp; </a:t>
            </a:r>
            <a:r>
              <a:rPr lang="es-MX" b="1" dirty="0" err="1"/>
              <a:t>Cages</a:t>
            </a:r>
            <a:r>
              <a:rPr lang="es-MX" b="1" dirty="0"/>
              <a:t>):</a:t>
            </a:r>
            <a:r>
              <a:rPr lang="es-MX" dirty="0"/>
              <a:t> Los servidores críticos no deben estar sueltos. Debieron estar atornillados a racks cerrados con llave dentro de jaulas de seguridad de alta resistencia.</a:t>
            </a:r>
          </a:p>
          <a:p>
            <a:r>
              <a:rPr lang="es-MX" b="1" dirty="0"/>
              <a:t>Deshabilitar puertos físicos:</a:t>
            </a:r>
            <a:r>
              <a:rPr lang="es-MX" dirty="0"/>
              <a:t> Las bahías de expansión y los puertos USB/removibles de los servidores deben estar bloqueados físicamente o desactivados por software para evitar que se conecten periféricos no autorizados.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44064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2F1B1B-F593-5674-7A54-FDE64D91A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900"/>
            <a:ext cx="10515600" cy="56245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b="1" dirty="0"/>
              <a:t>Lo aprendido:</a:t>
            </a:r>
          </a:p>
          <a:p>
            <a:pPr marL="0" indent="0" algn="ctr">
              <a:buNone/>
            </a:pPr>
            <a:endParaRPr lang="es-MX" b="1" dirty="0"/>
          </a:p>
          <a:p>
            <a:pPr marL="0" indent="0">
              <a:buNone/>
            </a:pPr>
            <a:r>
              <a:rPr lang="es-MX" b="1" dirty="0"/>
              <a:t>El verdadero fallo de </a:t>
            </a:r>
            <a:r>
              <a:rPr lang="es-MX" b="1" dirty="0" err="1"/>
              <a:t>DataSecureCorp</a:t>
            </a:r>
            <a:r>
              <a:rPr lang="es-MX" b="1" dirty="0"/>
              <a:t> fue la confianza ciega en la tecnología básica.</a:t>
            </a:r>
            <a:r>
              <a:rPr lang="es-MX" dirty="0"/>
              <a:t> Asumieron que tener cámaras y tarjetas era suficiente, olvidando que los procedimientos humanos son el eslabón más débil. La seguridad efectiva requiere que la tecnología, los procesos y las personas actúen como un engranaje unificado donde nadie pueda saltarse las reglas de control.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3644916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690</Words>
  <Application>Microsoft Office PowerPoint</Application>
  <PresentationFormat>Panorámica</PresentationFormat>
  <Paragraphs>34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participante</cp:lastModifiedBy>
  <cp:revision>27</cp:revision>
  <dcterms:created xsi:type="dcterms:W3CDTF">2026-04-23T16:05:39Z</dcterms:created>
  <dcterms:modified xsi:type="dcterms:W3CDTF">2026-06-30T16:27:20Z</dcterms:modified>
</cp:coreProperties>
</file>